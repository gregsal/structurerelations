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2" autoAdjust="0"/>
    <p:restoredTop sz="94660"/>
  </p:normalViewPr>
  <p:slideViewPr>
    <p:cSldViewPr snapToGrid="0">
      <p:cViewPr varScale="1">
        <p:scale>
          <a:sx n="105" d="100"/>
          <a:sy n="105" d="100"/>
        </p:scale>
        <p:origin x="5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6F40-9B2D-85D6-BED5-362770102D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4B259357-50D3-FE62-959A-B86D879FB3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BA27A6C5-7C0A-8484-FD2F-01B932234E32}"/>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5" name="Footer Placeholder 4">
            <a:extLst>
              <a:ext uri="{FF2B5EF4-FFF2-40B4-BE49-F238E27FC236}">
                <a16:creationId xmlns:a16="http://schemas.microsoft.com/office/drawing/2014/main" id="{791DF395-0D5B-22F8-7DCB-5C95F6C3C5E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2B5867F-0361-7655-000F-0FDBA55D617C}"/>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1005741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76D96-A76F-85E2-9FF4-B254FC619C3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0587A04-0457-CAE6-F9A6-C8A8E385D9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A89624E-2C5F-2C73-4831-F768E2B94DC1}"/>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5" name="Footer Placeholder 4">
            <a:extLst>
              <a:ext uri="{FF2B5EF4-FFF2-40B4-BE49-F238E27FC236}">
                <a16:creationId xmlns:a16="http://schemas.microsoft.com/office/drawing/2014/main" id="{5FE339EA-6F0F-3FF8-F212-C7495BB7744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9F4CB36-AEC1-C82C-BEE3-141FB611E57A}"/>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2100234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6EEA-0832-4159-339A-89A21627AF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CEDE0E43-83E1-25DE-A2AB-6AFF8209B1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BEC448-547B-F460-96A1-C067F0F51344}"/>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5" name="Footer Placeholder 4">
            <a:extLst>
              <a:ext uri="{FF2B5EF4-FFF2-40B4-BE49-F238E27FC236}">
                <a16:creationId xmlns:a16="http://schemas.microsoft.com/office/drawing/2014/main" id="{D6BCEE68-2B60-03D5-A182-0B4BF37E2A0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436681C-0696-170D-973C-51BD23F65161}"/>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2557710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0D972-554B-2073-1561-70BAB2119B2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C58C991C-6D12-DE0C-A90B-37FBB98D60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7120530-2166-FFC4-11D7-AC714AE7A5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08253111-36F1-BB6D-F709-B14AD318B1FA}"/>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6" name="Footer Placeholder 5">
            <a:extLst>
              <a:ext uri="{FF2B5EF4-FFF2-40B4-BE49-F238E27FC236}">
                <a16:creationId xmlns:a16="http://schemas.microsoft.com/office/drawing/2014/main" id="{F4769EFD-4A4D-28BF-776E-D88D1740055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A3F8AA8C-6377-F2CB-926E-526D8F657C5C}"/>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2883230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A7216-37C2-7614-0944-CAFC690E3EEA}"/>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5B2E4BD2-4A51-AA62-89F7-B048AE8E51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4F2166-7424-98C3-E174-69918EE3BC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296FD7B6-4603-437C-BB08-BF9AD815FC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2A4CA6-8E94-707A-20C1-69E13E6AB5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05DF1556-7ABD-458B-A5A7-195668A57451}"/>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8" name="Footer Placeholder 7">
            <a:extLst>
              <a:ext uri="{FF2B5EF4-FFF2-40B4-BE49-F238E27FC236}">
                <a16:creationId xmlns:a16="http://schemas.microsoft.com/office/drawing/2014/main" id="{680A0FA0-B59A-2A31-5F14-074EF429282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4B32F62-978B-9532-ADD8-DF20D409B04B}"/>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2462935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10917-BC74-4F99-D91D-A2815A33371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FAD1EAF-8A39-A2C1-C561-2C4F5C403E98}"/>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4" name="Footer Placeholder 3">
            <a:extLst>
              <a:ext uri="{FF2B5EF4-FFF2-40B4-BE49-F238E27FC236}">
                <a16:creationId xmlns:a16="http://schemas.microsoft.com/office/drawing/2014/main" id="{72F37C9A-60C4-2355-635F-3DF90D6A7E8E}"/>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F2FE63DA-FB47-F427-BCC3-B4D537ED08E5}"/>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1911127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0D137B-1B95-2A51-F1EB-5409445BFA43}"/>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3" name="Footer Placeholder 2">
            <a:extLst>
              <a:ext uri="{FF2B5EF4-FFF2-40B4-BE49-F238E27FC236}">
                <a16:creationId xmlns:a16="http://schemas.microsoft.com/office/drawing/2014/main" id="{9978F80C-F77E-0EF9-2012-F312EE8CEF8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C4CFD001-5C70-8133-CF12-67A171F4D59B}"/>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11975857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C3082-FC67-5F3E-0676-0F257ED17C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DC786C9-D0B5-A1EC-2963-66EBEF89EA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C01F311D-4D5B-78DC-FBFF-EB6F4AC5A0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67E820-1D78-74E9-9D42-2C959747577B}"/>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6" name="Footer Placeholder 5">
            <a:extLst>
              <a:ext uri="{FF2B5EF4-FFF2-40B4-BE49-F238E27FC236}">
                <a16:creationId xmlns:a16="http://schemas.microsoft.com/office/drawing/2014/main" id="{24D5E3A1-108B-D8FC-4010-805BF4F1721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D2678B0-D7E5-D68B-55F8-98BB5B58794A}"/>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264598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3D385-F94F-615E-F68F-D6BA608234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28CA65A-EAA9-7704-1548-24F9D47D89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8F93A9A-A3CE-DB43-D636-77E119BEC0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6EE39-50F2-30FE-62A1-9076EA5E078C}"/>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6" name="Footer Placeholder 5">
            <a:extLst>
              <a:ext uri="{FF2B5EF4-FFF2-40B4-BE49-F238E27FC236}">
                <a16:creationId xmlns:a16="http://schemas.microsoft.com/office/drawing/2014/main" id="{DC629EA7-B695-51D2-CFD5-812F52FDE58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5C015E-BAE6-3384-CB63-48EEEEE1C9FF}"/>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2798188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250C-5890-8089-24C1-FDBA247B207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D6D3B7D-511C-7D14-F1D7-6CED5AD2E9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07572A1-02D5-9190-2E84-014FDE4AF537}"/>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5" name="Footer Placeholder 4">
            <a:extLst>
              <a:ext uri="{FF2B5EF4-FFF2-40B4-BE49-F238E27FC236}">
                <a16:creationId xmlns:a16="http://schemas.microsoft.com/office/drawing/2014/main" id="{D1E5AE69-839A-1CD3-0BFB-7F4FAB9E516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8B1EB91-7471-5242-107B-3F2406AF86B6}"/>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352130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C403E3-51B5-1A72-5C55-823CDBB168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9C537FA-445E-EDA1-C427-E24A7D9A6E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70861A3-0339-C56C-2BF2-18737002A0FD}"/>
              </a:ext>
            </a:extLst>
          </p:cNvPr>
          <p:cNvSpPr>
            <a:spLocks noGrp="1"/>
          </p:cNvSpPr>
          <p:nvPr>
            <p:ph type="dt" sz="half" idx="10"/>
          </p:nvPr>
        </p:nvSpPr>
        <p:spPr/>
        <p:txBody>
          <a:bodyPr/>
          <a:lstStyle/>
          <a:p>
            <a:fld id="{7EF9F006-6781-4380-ABCD-E6F8CFA6FE21}" type="datetimeFigureOut">
              <a:rPr lang="en-CA" smtClean="0"/>
              <a:t>2026-07-29</a:t>
            </a:fld>
            <a:endParaRPr lang="en-CA"/>
          </a:p>
        </p:txBody>
      </p:sp>
      <p:sp>
        <p:nvSpPr>
          <p:cNvPr id="5" name="Footer Placeholder 4">
            <a:extLst>
              <a:ext uri="{FF2B5EF4-FFF2-40B4-BE49-F238E27FC236}">
                <a16:creationId xmlns:a16="http://schemas.microsoft.com/office/drawing/2014/main" id="{214264AD-A95C-280C-AB4D-3AEB7B02EE3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F9CCC7A-037D-201B-9352-670F820BD204}"/>
              </a:ext>
            </a:extLst>
          </p:cNvPr>
          <p:cNvSpPr>
            <a:spLocks noGrp="1"/>
          </p:cNvSpPr>
          <p:nvPr>
            <p:ph type="sldNum" sz="quarter" idx="12"/>
          </p:nvPr>
        </p:nvSpPr>
        <p:spPr/>
        <p:txBody>
          <a:bodyPr/>
          <a:lstStyle/>
          <a:p>
            <a:fld id="{08ABDAFF-8683-48E3-BF86-8064A7FFF4C7}" type="slidenum">
              <a:rPr lang="en-CA" smtClean="0"/>
              <a:t>‹#›</a:t>
            </a:fld>
            <a:endParaRPr lang="en-CA"/>
          </a:p>
        </p:txBody>
      </p:sp>
    </p:spTree>
    <p:extLst>
      <p:ext uri="{BB962C8B-B14F-4D97-AF65-F5344CB8AC3E}">
        <p14:creationId xmlns:p14="http://schemas.microsoft.com/office/powerpoint/2010/main" val="4216935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3BBF6-50FE-34B2-AE6A-A50DCB6719E9}"/>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9CB33D2-F38C-12DD-AFBE-29B3D9EA804E}"/>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99C8DC5-A001-91C4-EE81-95168F897EA4}"/>
              </a:ext>
            </a:extLst>
          </p:cNvPr>
          <p:cNvSpPr>
            <a:spLocks noGrp="1"/>
          </p:cNvSpPr>
          <p:nvPr>
            <p:ph type="dt" sz="half" idx="10"/>
          </p:nvPr>
        </p:nvSpPr>
        <p:spPr/>
        <p:txBody>
          <a:bodyPr/>
          <a:lstStyle/>
          <a:p>
            <a:fld id="{8D5D1D9D-4F65-481E-847C-B5B5ABB485BB}" type="datetimeFigureOut">
              <a:rPr lang="en-CA" smtClean="0"/>
              <a:t>2026-07-29</a:t>
            </a:fld>
            <a:endParaRPr lang="en-CA"/>
          </a:p>
        </p:txBody>
      </p:sp>
      <p:sp>
        <p:nvSpPr>
          <p:cNvPr id="5" name="Footer Placeholder 4">
            <a:extLst>
              <a:ext uri="{FF2B5EF4-FFF2-40B4-BE49-F238E27FC236}">
                <a16:creationId xmlns:a16="http://schemas.microsoft.com/office/drawing/2014/main" id="{6226CF9C-5FD7-716D-9B1B-EC3834A69A0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8EA457A-38A5-E5C2-9D26-1842991EEF38}"/>
              </a:ext>
            </a:extLst>
          </p:cNvPr>
          <p:cNvSpPr>
            <a:spLocks noGrp="1"/>
          </p:cNvSpPr>
          <p:nvPr>
            <p:ph type="sldNum" sz="quarter" idx="12"/>
          </p:nvPr>
        </p:nvSpPr>
        <p:spPr/>
        <p:txBody>
          <a:bodyPr/>
          <a:lstStyle/>
          <a:p>
            <a:fld id="{DC7E7FF9-C6EF-4E58-A2E8-5CAD64BC6C8C}" type="slidenum">
              <a:rPr lang="en-CA" smtClean="0"/>
              <a:t>‹#›</a:t>
            </a:fld>
            <a:endParaRPr lang="en-CA"/>
          </a:p>
        </p:txBody>
      </p:sp>
    </p:spTree>
    <p:extLst>
      <p:ext uri="{BB962C8B-B14F-4D97-AF65-F5344CB8AC3E}">
        <p14:creationId xmlns:p14="http://schemas.microsoft.com/office/powerpoint/2010/main" val="2445858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16D30D-6B97-79C7-10B4-F71D6AA6EA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022622A-8925-9FC1-4510-3084F8CD41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FA4132B-5A03-2D50-11B1-18B5F655E3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F9F006-6781-4380-ABCD-E6F8CFA6FE21}" type="datetimeFigureOut">
              <a:rPr lang="en-CA" smtClean="0"/>
              <a:t>2026-07-29</a:t>
            </a:fld>
            <a:endParaRPr lang="en-CA"/>
          </a:p>
        </p:txBody>
      </p:sp>
      <p:sp>
        <p:nvSpPr>
          <p:cNvPr id="5" name="Footer Placeholder 4">
            <a:extLst>
              <a:ext uri="{FF2B5EF4-FFF2-40B4-BE49-F238E27FC236}">
                <a16:creationId xmlns:a16="http://schemas.microsoft.com/office/drawing/2014/main" id="{398DA3B4-75AC-007E-8E6B-91FE828CBE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67198985-1043-F879-C4A8-86CDC5CDEC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ABDAFF-8683-48E3-BF86-8064A7FFF4C7}" type="slidenum">
              <a:rPr lang="en-CA" smtClean="0"/>
              <a:t>‹#›</a:t>
            </a:fld>
            <a:endParaRPr lang="en-CA"/>
          </a:p>
        </p:txBody>
      </p:sp>
    </p:spTree>
    <p:extLst>
      <p:ext uri="{BB962C8B-B14F-4D97-AF65-F5344CB8AC3E}">
        <p14:creationId xmlns:p14="http://schemas.microsoft.com/office/powerpoint/2010/main" val="2920949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hyperlink" Target="https://kingstonhsc-my.sharepoint.com/personal/gregory_salomons_kingstonhsc_ca/_layouts/15/Doc.aspx?sourcedoc=%7B18C69B12-AF49-4468-ADDE-17367878A11B%7D&amp;file=Relations.docx&amp;action=default&amp;mobileredirect=true"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ACFA0-7B80-F323-C72F-6C2A8708EC91}"/>
              </a:ext>
            </a:extLst>
          </p:cNvPr>
          <p:cNvSpPr>
            <a:spLocks noGrp="1"/>
          </p:cNvSpPr>
          <p:nvPr>
            <p:ph type="ctrTitle"/>
          </p:nvPr>
        </p:nvSpPr>
        <p:spPr/>
        <p:txBody>
          <a:bodyPr/>
          <a:lstStyle/>
          <a:p>
            <a:pPr marR="0" rtl="0"/>
            <a:r>
              <a:rPr lang="en-CA" b="1" i="0" u="none" strike="noStrike" kern="100" baseline="0">
                <a:solidFill>
                  <a:srgbClr val="0F4761"/>
                </a:solidFill>
                <a:latin typeface="Times New Roman" panose="02020603050405020304" pitchFamily="18" charset="0"/>
              </a:rPr>
              <a:t>Structure Relations</a:t>
            </a:r>
          </a:p>
        </p:txBody>
      </p:sp>
      <p:sp>
        <p:nvSpPr>
          <p:cNvPr id="4" name="Subtitle 3">
            <a:extLst>
              <a:ext uri="{FF2B5EF4-FFF2-40B4-BE49-F238E27FC236}">
                <a16:creationId xmlns:a16="http://schemas.microsoft.com/office/drawing/2014/main" id="{CC5AA5D6-2048-7664-285F-746E9140C4FF}"/>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3906695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F37CD-DF15-8687-5ACB-4185B535D5FB}"/>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The Problem</a:t>
            </a:r>
          </a:p>
        </p:txBody>
      </p:sp>
      <p:sp>
        <p:nvSpPr>
          <p:cNvPr id="3" name="Text Placeholder 2">
            <a:extLst>
              <a:ext uri="{FF2B5EF4-FFF2-40B4-BE49-F238E27FC236}">
                <a16:creationId xmlns:a16="http://schemas.microsoft.com/office/drawing/2014/main" id="{C36DDE31-F4F4-AB9D-59F3-F821C3DB4992}"/>
              </a:ext>
            </a:extLst>
          </p:cNvPr>
          <p:cNvSpPr>
            <a:spLocks noGrp="1"/>
          </p:cNvSpPr>
          <p:nvPr>
            <p:ph type="body" idx="1"/>
          </p:nvPr>
        </p:nvSpPr>
        <p:spPr/>
        <p:txBody>
          <a:bodyPr>
            <a:normAutofit fontScale="85000" lnSpcReduction="20000"/>
          </a:bodyPr>
          <a:lstStyle/>
          <a:p>
            <a:pPr marR="0" lvl="0" rtl="0"/>
            <a:r>
              <a:rPr lang="en-CA" b="1" i="0" u="none" strike="noStrike" kern="100" baseline="0">
                <a:solidFill>
                  <a:srgbClr val="0F4761"/>
                </a:solidFill>
                <a:latin typeface="Times New Roman" panose="02020603050405020304" pitchFamily="18" charset="0"/>
              </a:rPr>
              <a:t>Modern VMAT Planning is Complex</a:t>
            </a:r>
          </a:p>
          <a:p>
            <a:pPr marR="0" lvl="1" rtl="0"/>
            <a:r>
              <a:rPr lang="en-US" b="0" i="0" u="none" strike="noStrike" kern="100" baseline="0">
                <a:solidFill>
                  <a:srgbClr val="0F4761"/>
                </a:solidFill>
                <a:latin typeface="Times New Roman" panose="02020603050405020304" pitchFamily="18" charset="0"/>
              </a:rPr>
              <a:t>A high-quality VMAT plan depends on accurate target and OAR structures for optimization and evaluation.</a:t>
            </a:r>
          </a:p>
          <a:p>
            <a:pPr marR="0" lvl="0" rtl="0"/>
            <a:r>
              <a:rPr lang="en-CA" b="1" i="0" u="none" strike="noStrike" kern="100" baseline="0">
                <a:solidFill>
                  <a:srgbClr val="0F4761"/>
                </a:solidFill>
                <a:latin typeface="Times New Roman" panose="02020603050405020304" pitchFamily="18" charset="0"/>
              </a:rPr>
              <a:t>Challenges</a:t>
            </a:r>
          </a:p>
          <a:p>
            <a:pPr marR="0" lvl="1" rtl="0"/>
            <a:r>
              <a:rPr lang="en-US" b="0" i="0" u="none" strike="noStrike" kern="100" baseline="0">
                <a:solidFill>
                  <a:srgbClr val="0F4761"/>
                </a:solidFill>
                <a:latin typeface="Times New Roman" panose="02020603050405020304" pitchFamily="18" charset="0"/>
              </a:rPr>
              <a:t>Structure sets often contain dozens of derived structures.</a:t>
            </a:r>
          </a:p>
          <a:p>
            <a:pPr marR="0" lvl="1" rtl="0"/>
            <a:r>
              <a:rPr lang="en-US" b="0" i="0" u="none" strike="noStrike" kern="100" baseline="0">
                <a:solidFill>
                  <a:srgbClr val="0F4761"/>
                </a:solidFill>
                <a:latin typeface="Times New Roman" panose="02020603050405020304" pitchFamily="18" charset="0"/>
              </a:rPr>
              <a:t>Expansion volumes, optimization structures, and avoidance structures must be generated correctly.</a:t>
            </a:r>
          </a:p>
          <a:p>
            <a:pPr marR="0" lvl="1" rtl="0"/>
            <a:r>
              <a:rPr lang="en-US" b="0" i="0" u="none" strike="noStrike" kern="100" baseline="0">
                <a:solidFill>
                  <a:srgbClr val="0F4761"/>
                </a:solidFill>
                <a:latin typeface="Times New Roman" panose="02020603050405020304" pitchFamily="18" charset="0"/>
              </a:rPr>
              <a:t>Naming and labeling errors can be difficult to identify.</a:t>
            </a:r>
          </a:p>
          <a:p>
            <a:pPr marR="0" lvl="1" rtl="0"/>
            <a:r>
              <a:rPr lang="en-US" b="0" i="0" u="none" strike="noStrike" kern="100" baseline="0">
                <a:solidFill>
                  <a:srgbClr val="0F4761"/>
                </a:solidFill>
                <a:latin typeface="Times New Roman" panose="02020603050405020304" pitchFamily="18" charset="0"/>
              </a:rPr>
              <a:t>Target/OAR overlap and proximity strongly influence optimization priorities.</a:t>
            </a:r>
          </a:p>
          <a:p>
            <a:pPr marR="0" lvl="0" rtl="0"/>
            <a:r>
              <a:rPr lang="en-CA" b="1" i="0" u="none" strike="noStrike" kern="100" baseline="0">
                <a:solidFill>
                  <a:srgbClr val="0F4761"/>
                </a:solidFill>
                <a:latin typeface="Times New Roman" panose="02020603050405020304" pitchFamily="18" charset="0"/>
              </a:rPr>
              <a:t>Clinical Need</a:t>
            </a:r>
          </a:p>
          <a:p>
            <a:pPr marR="0" lvl="1" rtl="0"/>
            <a:r>
              <a:rPr lang="en-US" b="0" i="0" u="none" strike="noStrike" kern="100" baseline="0">
                <a:solidFill>
                  <a:srgbClr val="0F4761"/>
                </a:solidFill>
                <a:latin typeface="Times New Roman" panose="02020603050405020304" pitchFamily="18" charset="0"/>
              </a:rPr>
              <a:t>Dosimetrists and physicists require a rapid way to understand:</a:t>
            </a:r>
          </a:p>
          <a:p>
            <a:pPr marR="0" lvl="2" rtl="0"/>
            <a:r>
              <a:rPr lang="en-CA" b="0" i="1" u="none" strike="noStrike" kern="100" baseline="0">
                <a:solidFill>
                  <a:srgbClr val="0F4761"/>
                </a:solidFill>
                <a:latin typeface="Times New Roman" panose="02020603050405020304" pitchFamily="18" charset="0"/>
              </a:rPr>
              <a:t>Which structures overlap</a:t>
            </a:r>
          </a:p>
          <a:p>
            <a:pPr marR="0" lvl="2" rtl="0"/>
            <a:r>
              <a:rPr lang="en-US" b="0" i="1" u="none" strike="noStrike" kern="100" baseline="0">
                <a:solidFill>
                  <a:srgbClr val="0F4761"/>
                </a:solidFill>
                <a:latin typeface="Times New Roman" panose="02020603050405020304" pitchFamily="18" charset="0"/>
              </a:rPr>
              <a:t>Which structures should contain others</a:t>
            </a:r>
          </a:p>
          <a:p>
            <a:pPr marR="0" lvl="2" rtl="0"/>
            <a:r>
              <a:rPr lang="en-US" b="0" i="1" u="none" strike="noStrike" kern="100" baseline="0">
                <a:solidFill>
                  <a:srgbClr val="0F4761"/>
                </a:solidFill>
                <a:latin typeface="Times New Roman" panose="02020603050405020304" pitchFamily="18" charset="0"/>
              </a:rPr>
              <a:t>Whether expansion margins were applied correctly</a:t>
            </a:r>
          </a:p>
          <a:p>
            <a:pPr marR="0" lvl="2" rtl="0"/>
            <a:r>
              <a:rPr lang="en-US" b="0" i="1" u="none" strike="noStrike" kern="100" baseline="0">
                <a:solidFill>
                  <a:srgbClr val="0F4761"/>
                </a:solidFill>
                <a:latin typeface="Times New Roman" panose="02020603050405020304" pitchFamily="18" charset="0"/>
              </a:rPr>
              <a:t>Where planning tradeoffs are expected</a:t>
            </a:r>
          </a:p>
        </p:txBody>
      </p:sp>
    </p:spTree>
    <p:extLst>
      <p:ext uri="{BB962C8B-B14F-4D97-AF65-F5344CB8AC3E}">
        <p14:creationId xmlns:p14="http://schemas.microsoft.com/office/powerpoint/2010/main" val="2670983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EC997-615E-45DB-F9C8-179AB71B6F8B}"/>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Introducing Structure Relations</a:t>
            </a:r>
          </a:p>
        </p:txBody>
      </p:sp>
      <p:sp>
        <p:nvSpPr>
          <p:cNvPr id="3" name="Text Placeholder 2">
            <a:extLst>
              <a:ext uri="{FF2B5EF4-FFF2-40B4-BE49-F238E27FC236}">
                <a16:creationId xmlns:a16="http://schemas.microsoft.com/office/drawing/2014/main" id="{70C04950-C9D0-24BF-F544-B8636935642F}"/>
              </a:ext>
            </a:extLst>
          </p:cNvPr>
          <p:cNvSpPr>
            <a:spLocks noGrp="1"/>
          </p:cNvSpPr>
          <p:nvPr>
            <p:ph type="body" idx="1"/>
          </p:nvPr>
        </p:nvSpPr>
        <p:spPr/>
        <p:txBody>
          <a:bodyPr>
            <a:normAutofit fontScale="70000" lnSpcReduction="20000"/>
          </a:bodyPr>
          <a:lstStyle/>
          <a:p>
            <a:pPr marR="0" lvl="0" rtl="0"/>
            <a:r>
              <a:rPr lang="en-CA" b="1" i="0" u="none" strike="noStrike" kern="100" baseline="0">
                <a:solidFill>
                  <a:srgbClr val="0F4761"/>
                </a:solidFill>
                <a:latin typeface="Times New Roman" panose="02020603050405020304" pitchFamily="18" charset="0"/>
              </a:rPr>
              <a:t>What is Structure Relations?</a:t>
            </a:r>
          </a:p>
          <a:p>
            <a:pPr marR="0" lvl="1" rtl="0"/>
            <a:r>
              <a:rPr lang="en-US" b="0" i="0" u="none" strike="noStrike" kern="100" baseline="0">
                <a:solidFill>
                  <a:srgbClr val="0F4761"/>
                </a:solidFill>
                <a:latin typeface="Times New Roman" panose="02020603050405020304" pitchFamily="18" charset="0"/>
              </a:rPr>
              <a:t>Structure Relations is an interactive contour-analysis application that generates diagrams and reports describing geometric relationships between radiation therapy structures</a:t>
            </a:r>
          </a:p>
          <a:p>
            <a:pPr marR="0" lvl="0" rtl="0"/>
            <a:r>
              <a:rPr lang="en-CA" b="1" i="0" u="none" strike="noStrike" kern="100" baseline="0">
                <a:solidFill>
                  <a:srgbClr val="0F4761"/>
                </a:solidFill>
                <a:latin typeface="Times New Roman" panose="02020603050405020304" pitchFamily="18" charset="0"/>
              </a:rPr>
              <a:t>Primary Goals</a:t>
            </a:r>
          </a:p>
          <a:p>
            <a:pPr marR="0" lvl="1" rtl="0"/>
            <a:r>
              <a:rPr lang="en-CA" b="0" i="0" u="none" strike="noStrike" kern="100" baseline="0">
                <a:solidFill>
                  <a:srgbClr val="0F4761"/>
                </a:solidFill>
                <a:latin typeface="Times New Roman" panose="02020603050405020304" pitchFamily="18" charset="0"/>
              </a:rPr>
              <a:t>Planning preparation</a:t>
            </a:r>
          </a:p>
          <a:p>
            <a:pPr marR="0" lvl="1" rtl="0"/>
            <a:r>
              <a:rPr lang="en-CA" b="0" i="0" u="none" strike="noStrike" kern="100" baseline="0">
                <a:solidFill>
                  <a:srgbClr val="0F4761"/>
                </a:solidFill>
                <a:latin typeface="Times New Roman" panose="02020603050405020304" pitchFamily="18" charset="0"/>
              </a:rPr>
              <a:t>Structure QA</a:t>
            </a:r>
          </a:p>
          <a:p>
            <a:pPr marR="0" lvl="1" rtl="0"/>
            <a:r>
              <a:rPr lang="en-CA" b="0" i="0" u="none" strike="noStrike" kern="100" baseline="0">
                <a:solidFill>
                  <a:srgbClr val="0F4761"/>
                </a:solidFill>
                <a:latin typeface="Times New Roman" panose="02020603050405020304" pitchFamily="18" charset="0"/>
              </a:rPr>
              <a:t>Treatment plan review</a:t>
            </a:r>
          </a:p>
          <a:p>
            <a:pPr marR="0" lvl="1" rtl="0"/>
            <a:r>
              <a:rPr lang="en-CA" b="0" i="0" u="none" strike="noStrike" kern="100" baseline="0">
                <a:solidFill>
                  <a:srgbClr val="0F4761"/>
                </a:solidFill>
                <a:latin typeface="Times New Roman" panose="02020603050405020304" pitchFamily="18" charset="0"/>
              </a:rPr>
              <a:t>Relationship visualization</a:t>
            </a:r>
          </a:p>
          <a:p>
            <a:pPr marR="0" lvl="0" rtl="0"/>
            <a:r>
              <a:rPr lang="en-CA" b="1" i="0" u="none" strike="noStrike" kern="100" baseline="0">
                <a:solidFill>
                  <a:srgbClr val="0F4761"/>
                </a:solidFill>
                <a:latin typeface="Times New Roman" panose="02020603050405020304" pitchFamily="18" charset="0"/>
              </a:rPr>
              <a:t>Key Outputs</a:t>
            </a:r>
          </a:p>
          <a:p>
            <a:pPr marR="0" lvl="1" rtl="0"/>
            <a:r>
              <a:rPr lang="en-CA" b="0" i="0" u="none" strike="noStrike" kern="100" baseline="0">
                <a:solidFill>
                  <a:srgbClr val="0F4761"/>
                </a:solidFill>
                <a:latin typeface="Times New Roman" panose="02020603050405020304" pitchFamily="18" charset="0"/>
              </a:rPr>
              <a:t>Relationship diagrams</a:t>
            </a:r>
          </a:p>
          <a:p>
            <a:pPr marR="0" lvl="1" rtl="0"/>
            <a:r>
              <a:rPr lang="en-CA" b="0" i="0" u="none" strike="noStrike" kern="100" baseline="0">
                <a:solidFill>
                  <a:srgbClr val="0F4761"/>
                </a:solidFill>
                <a:latin typeface="Times New Roman" panose="02020603050405020304" pitchFamily="18" charset="0"/>
              </a:rPr>
              <a:t>Relationship matrices</a:t>
            </a:r>
          </a:p>
          <a:p>
            <a:pPr marR="0" lvl="1" rtl="0"/>
            <a:r>
              <a:rPr lang="en-CA" b="0" i="0" u="none" strike="noStrike" kern="100" baseline="0">
                <a:solidFill>
                  <a:srgbClr val="0F4761"/>
                </a:solidFill>
                <a:latin typeface="Times New Roman" panose="02020603050405020304" pitchFamily="18" charset="0"/>
              </a:rPr>
              <a:t>Quantitative metrics</a:t>
            </a:r>
          </a:p>
          <a:p>
            <a:pPr marR="0" lvl="1" rtl="0"/>
            <a:r>
              <a:rPr lang="en-CA" b="0" i="0" u="none" strike="noStrike" kern="100" baseline="0">
                <a:solidFill>
                  <a:srgbClr val="0F4761"/>
                </a:solidFill>
                <a:latin typeface="Times New Roman" panose="02020603050405020304" pitchFamily="18" charset="0"/>
              </a:rPr>
              <a:t>PDF reports</a:t>
            </a:r>
          </a:p>
          <a:p>
            <a:pPr marR="0" lvl="0" rtl="0"/>
            <a:r>
              <a:rPr lang="en-CA" b="1" i="0" u="none" strike="noStrike" kern="100" baseline="0">
                <a:solidFill>
                  <a:srgbClr val="0F4761"/>
                </a:solidFill>
                <a:latin typeface="Times New Roman" panose="02020603050405020304" pitchFamily="18" charset="0"/>
              </a:rPr>
              <a:t>Core Concept</a:t>
            </a:r>
          </a:p>
          <a:p>
            <a:pPr marR="0" lvl="1" rtl="0"/>
            <a:r>
              <a:rPr lang="en-US" b="0" i="0" u="none" strike="noStrike" kern="100" baseline="0">
                <a:solidFill>
                  <a:srgbClr val="0F4761"/>
                </a:solidFill>
                <a:latin typeface="Times New Roman" panose="02020603050405020304" pitchFamily="18" charset="0"/>
              </a:rPr>
              <a:t>Instead of manually inspecting dozens of contours, users visualize the entire structure hierarchy and relationship network at a glance. </a:t>
            </a:r>
          </a:p>
        </p:txBody>
      </p:sp>
    </p:spTree>
    <p:extLst>
      <p:ext uri="{BB962C8B-B14F-4D97-AF65-F5344CB8AC3E}">
        <p14:creationId xmlns:p14="http://schemas.microsoft.com/office/powerpoint/2010/main" val="1905323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77341-C3C2-09FC-7FC6-A41682572C52}"/>
              </a:ext>
            </a:extLst>
          </p:cNvPr>
          <p:cNvSpPr>
            <a:spLocks noGrp="1"/>
          </p:cNvSpPr>
          <p:nvPr>
            <p:ph type="title"/>
          </p:nvPr>
        </p:nvSpPr>
        <p:spPr/>
        <p:txBody>
          <a:bodyPr/>
          <a:lstStyle/>
          <a:p>
            <a:pPr marR="0" rtl="0"/>
            <a:r>
              <a:rPr lang="en-US" b="1" i="0" u="none" strike="noStrike" kern="100" baseline="0" dirty="0">
                <a:solidFill>
                  <a:srgbClr val="0F4761"/>
                </a:solidFill>
                <a:latin typeface="Times New Roman" panose="02020603050405020304" pitchFamily="18" charset="0"/>
              </a:rPr>
              <a:t>What Structure Relations Does</a:t>
            </a:r>
          </a:p>
        </p:txBody>
      </p:sp>
      <p:sp>
        <p:nvSpPr>
          <p:cNvPr id="3" name="Text Placeholder 2">
            <a:extLst>
              <a:ext uri="{FF2B5EF4-FFF2-40B4-BE49-F238E27FC236}">
                <a16:creationId xmlns:a16="http://schemas.microsoft.com/office/drawing/2014/main" id="{BAC8F73F-FB74-8848-5879-B95D225F4841}"/>
              </a:ext>
            </a:extLst>
          </p:cNvPr>
          <p:cNvSpPr>
            <a:spLocks noGrp="1"/>
          </p:cNvSpPr>
          <p:nvPr>
            <p:ph type="body" idx="1"/>
          </p:nvPr>
        </p:nvSpPr>
        <p:spPr/>
        <p:txBody>
          <a:bodyPr>
            <a:normAutofit fontScale="40000" lnSpcReduction="20000"/>
          </a:bodyPr>
          <a:lstStyle/>
          <a:p>
            <a:pPr marR="0" lvl="0" rtl="0"/>
            <a:r>
              <a:rPr lang="en-CA" b="1" i="0" u="none" strike="noStrike" kern="100" baseline="0">
                <a:solidFill>
                  <a:srgbClr val="0F4761"/>
                </a:solidFill>
                <a:latin typeface="Times New Roman" panose="02020603050405020304" pitchFamily="18" charset="0"/>
              </a:rPr>
              <a:t>Automated Relationship Analysis</a:t>
            </a:r>
          </a:p>
          <a:p>
            <a:pPr marR="0" lvl="1" rtl="0"/>
            <a:r>
              <a:rPr lang="en-US" b="0" i="0" u="none" strike="noStrike" kern="100" baseline="0">
                <a:solidFill>
                  <a:srgbClr val="0F4761"/>
                </a:solidFill>
                <a:latin typeface="Times New Roman" panose="02020603050405020304" pitchFamily="18" charset="0"/>
              </a:rPr>
              <a:t>The application analyzes all selected structures and determines relationships between every structure pair</a:t>
            </a:r>
          </a:p>
          <a:p>
            <a:pPr marR="0" lvl="1" rtl="0"/>
            <a:r>
              <a:rPr lang="en-CA" b="1" i="0" u="none" strike="noStrike" kern="100" baseline="0">
                <a:solidFill>
                  <a:srgbClr val="0F4761"/>
                </a:solidFill>
                <a:latin typeface="Times New Roman" panose="02020603050405020304" pitchFamily="18" charset="0"/>
              </a:rPr>
              <a:t>Examples</a:t>
            </a:r>
          </a:p>
          <a:p>
            <a:pPr marR="0" lvl="2" rtl="0"/>
            <a:r>
              <a:rPr lang="en-CA" b="0" i="1" u="none" strike="noStrike" kern="100" baseline="0">
                <a:solidFill>
                  <a:srgbClr val="0F4761"/>
                </a:solidFill>
                <a:latin typeface="Times New Roman" panose="02020603050405020304" pitchFamily="18" charset="0"/>
              </a:rPr>
              <a:t>PTV contains CTV</a:t>
            </a:r>
          </a:p>
          <a:p>
            <a:pPr marR="0" lvl="2" rtl="0"/>
            <a:r>
              <a:rPr lang="en-CA" b="0" i="1" u="none" strike="noStrike" kern="100" baseline="0">
                <a:solidFill>
                  <a:srgbClr val="0F4761"/>
                </a:solidFill>
                <a:latin typeface="Times New Roman" panose="02020603050405020304" pitchFamily="18" charset="0"/>
              </a:rPr>
              <a:t>CTV contains GTV</a:t>
            </a:r>
          </a:p>
          <a:p>
            <a:pPr marR="0" lvl="2" rtl="0"/>
            <a:r>
              <a:rPr lang="en-CA" b="0" i="1" u="none" strike="noStrike" kern="100" baseline="0">
                <a:solidFill>
                  <a:srgbClr val="0F4761"/>
                </a:solidFill>
                <a:latin typeface="Times New Roman" panose="02020603050405020304" pitchFamily="18" charset="0"/>
              </a:rPr>
              <a:t>PTV overlaps Parotid</a:t>
            </a:r>
          </a:p>
          <a:p>
            <a:pPr marR="0" lvl="2" rtl="0"/>
            <a:r>
              <a:rPr lang="en-CA" b="0" i="1" u="none" strike="noStrike" kern="100" baseline="0">
                <a:solidFill>
                  <a:srgbClr val="0F4761"/>
                </a:solidFill>
                <a:latin typeface="Times New Roman" panose="02020603050405020304" pitchFamily="18" charset="0"/>
              </a:rPr>
              <a:t>Opt-Bladder partitions Bladder</a:t>
            </a:r>
          </a:p>
          <a:p>
            <a:pPr marR="0" lvl="2" rtl="0"/>
            <a:r>
              <a:rPr lang="en-CA" b="0" i="1" u="none" strike="noStrike" kern="100" baseline="0">
                <a:solidFill>
                  <a:srgbClr val="0F4761"/>
                </a:solidFill>
                <a:latin typeface="Times New Roman" panose="02020603050405020304" pitchFamily="18" charset="0"/>
              </a:rPr>
              <a:t>Ring structure surrounds PTV</a:t>
            </a:r>
          </a:p>
          <a:p>
            <a:pPr marR="0" lvl="1" rtl="0"/>
            <a:r>
              <a:rPr lang="en-CA" b="1" i="0" u="none" strike="noStrike" kern="100" baseline="0">
                <a:solidFill>
                  <a:srgbClr val="0F4761"/>
                </a:solidFill>
                <a:latin typeface="Times New Roman" panose="02020603050405020304" pitchFamily="18" charset="0"/>
              </a:rPr>
              <a:t>Quantitative Metrics</a:t>
            </a:r>
          </a:p>
          <a:p>
            <a:pPr marR="0" lvl="2" rtl="0"/>
            <a:r>
              <a:rPr lang="en-US" b="0" i="1" u="none" strike="noStrike" kern="100" baseline="0">
                <a:solidFill>
                  <a:srgbClr val="0F4761"/>
                </a:solidFill>
                <a:latin typeface="Times New Roman" panose="02020603050405020304" pitchFamily="18" charset="0"/>
              </a:rPr>
              <a:t>Metrics depend on the relationship type:</a:t>
            </a:r>
          </a:p>
          <a:p>
            <a:pPr marR="0" lvl="1" rtl="0"/>
            <a:r>
              <a:rPr lang="en-CA" b="1" i="0" u="none" strike="noStrike" kern="100" baseline="0">
                <a:solidFill>
                  <a:srgbClr val="0F4761"/>
                </a:solidFill>
                <a:latin typeface="Times New Roman" panose="02020603050405020304" pitchFamily="18" charset="0"/>
              </a:rPr>
              <a:t>Containment</a:t>
            </a:r>
          </a:p>
          <a:p>
            <a:pPr marR="0" lvl="2" rtl="0"/>
            <a:r>
              <a:rPr lang="en-CA" b="0" i="1" u="none" strike="noStrike" kern="100" baseline="0">
                <a:solidFill>
                  <a:srgbClr val="0F4761"/>
                </a:solidFill>
                <a:latin typeface="Times New Roman" panose="02020603050405020304" pitchFamily="18" charset="0"/>
              </a:rPr>
              <a:t>Superior margin</a:t>
            </a:r>
          </a:p>
          <a:p>
            <a:pPr marR="0" lvl="2" rtl="0"/>
            <a:r>
              <a:rPr lang="en-CA" b="0" i="1" u="none" strike="noStrike" kern="100" baseline="0">
                <a:solidFill>
                  <a:srgbClr val="0F4761"/>
                </a:solidFill>
                <a:latin typeface="Times New Roman" panose="02020603050405020304" pitchFamily="18" charset="0"/>
              </a:rPr>
              <a:t>Inferior margin</a:t>
            </a:r>
          </a:p>
          <a:p>
            <a:pPr marR="0" lvl="2" rtl="0"/>
            <a:r>
              <a:rPr lang="en-CA" b="0" i="1" u="none" strike="noStrike" kern="100" baseline="0">
                <a:solidFill>
                  <a:srgbClr val="0F4761"/>
                </a:solidFill>
                <a:latin typeface="Times New Roman" panose="02020603050405020304" pitchFamily="18" charset="0"/>
              </a:rPr>
              <a:t>Left margin</a:t>
            </a:r>
          </a:p>
          <a:p>
            <a:pPr marR="0" lvl="2" rtl="0"/>
            <a:r>
              <a:rPr lang="en-CA" b="0" i="1" u="none" strike="noStrike" kern="100" baseline="0">
                <a:solidFill>
                  <a:srgbClr val="0F4761"/>
                </a:solidFill>
                <a:latin typeface="Times New Roman" panose="02020603050405020304" pitchFamily="18" charset="0"/>
              </a:rPr>
              <a:t>Right margin</a:t>
            </a:r>
          </a:p>
          <a:p>
            <a:pPr marR="0" lvl="2" rtl="0"/>
            <a:r>
              <a:rPr lang="en-CA" b="0" i="1" u="none" strike="noStrike" kern="100" baseline="0">
                <a:solidFill>
                  <a:srgbClr val="0F4761"/>
                </a:solidFill>
                <a:latin typeface="Times New Roman" panose="02020603050405020304" pitchFamily="18" charset="0"/>
              </a:rPr>
              <a:t>Anterior margin</a:t>
            </a:r>
          </a:p>
          <a:p>
            <a:pPr marR="0" lvl="2" rtl="0"/>
            <a:r>
              <a:rPr lang="en-CA" b="0" i="1" u="none" strike="noStrike" kern="100" baseline="0">
                <a:solidFill>
                  <a:srgbClr val="0F4761"/>
                </a:solidFill>
                <a:latin typeface="Times New Roman" panose="02020603050405020304" pitchFamily="18" charset="0"/>
              </a:rPr>
              <a:t>Posterior margin</a:t>
            </a:r>
          </a:p>
          <a:p>
            <a:pPr marR="0" lvl="2" rtl="0"/>
            <a:r>
              <a:rPr lang="en-CA" b="0" i="1" u="none" strike="noStrike" kern="100" baseline="0">
                <a:solidFill>
                  <a:srgbClr val="0F4761"/>
                </a:solidFill>
                <a:latin typeface="Times New Roman" panose="02020603050405020304" pitchFamily="18" charset="0"/>
              </a:rPr>
              <a:t>Mean / Minimum / Maximum margin</a:t>
            </a:r>
          </a:p>
          <a:p>
            <a:pPr marR="0" lvl="1" rtl="0"/>
            <a:r>
              <a:rPr lang="en-CA" b="1" i="0" u="none" strike="noStrike" kern="100" baseline="0">
                <a:solidFill>
                  <a:srgbClr val="0F4761"/>
                </a:solidFill>
                <a:latin typeface="Times New Roman" panose="02020603050405020304" pitchFamily="18" charset="0"/>
              </a:rPr>
              <a:t>Overlap</a:t>
            </a:r>
          </a:p>
          <a:p>
            <a:pPr marR="0" lvl="2" rtl="0"/>
            <a:r>
              <a:rPr lang="en-CA" b="0" i="1" u="none" strike="noStrike" kern="100" baseline="0">
                <a:solidFill>
                  <a:srgbClr val="0F4761"/>
                </a:solidFill>
                <a:latin typeface="Times New Roman" panose="02020603050405020304" pitchFamily="18" charset="0"/>
              </a:rPr>
              <a:t>Overlap volume</a:t>
            </a:r>
          </a:p>
          <a:p>
            <a:pPr marR="0" lvl="2" rtl="0"/>
            <a:r>
              <a:rPr lang="en-CA" b="0" i="1" u="none" strike="noStrike" kern="100" baseline="0">
                <a:solidFill>
                  <a:srgbClr val="0F4761"/>
                </a:solidFill>
                <a:latin typeface="Times New Roman" panose="02020603050405020304" pitchFamily="18" charset="0"/>
              </a:rPr>
              <a:t>Percent overlap</a:t>
            </a:r>
          </a:p>
          <a:p>
            <a:pPr marR="0" lvl="1" rtl="0"/>
            <a:r>
              <a:rPr lang="en-CA" b="1" i="0" u="none" strike="noStrike" kern="100" baseline="0">
                <a:solidFill>
                  <a:srgbClr val="0F4761"/>
                </a:solidFill>
                <a:latin typeface="Times New Roman" panose="02020603050405020304" pitchFamily="18" charset="0"/>
              </a:rPr>
              <a:t>Disjoint Structures</a:t>
            </a:r>
          </a:p>
          <a:p>
            <a:pPr marR="0" lvl="2" rtl="0"/>
            <a:r>
              <a:rPr lang="en-CA" b="0" i="1" u="none" strike="noStrike" kern="100" baseline="0">
                <a:solidFill>
                  <a:srgbClr val="0F4761"/>
                </a:solidFill>
                <a:latin typeface="Times New Roman" panose="02020603050405020304" pitchFamily="18" charset="0"/>
              </a:rPr>
              <a:t>Minimum distance</a:t>
            </a:r>
          </a:p>
          <a:p>
            <a:pPr marR="0" lvl="2" rtl="0"/>
            <a:r>
              <a:rPr lang="en-CA" b="0" i="1" u="none" strike="noStrike" kern="100" baseline="0">
                <a:solidFill>
                  <a:srgbClr val="0F4761"/>
                </a:solidFill>
                <a:latin typeface="Times New Roman" panose="02020603050405020304" pitchFamily="18" charset="0"/>
              </a:rPr>
              <a:t>Mean distance</a:t>
            </a:r>
          </a:p>
          <a:p>
            <a:pPr marR="0" lvl="1" rtl="0"/>
            <a:r>
              <a:rPr lang="en-US" b="0" i="0" u="none" strike="noStrike" kern="100" baseline="0">
                <a:solidFill>
                  <a:srgbClr val="0F4761"/>
                </a:solidFill>
                <a:latin typeface="Times New Roman" panose="02020603050405020304" pitchFamily="18" charset="0"/>
              </a:rPr>
              <a:t>These metrics are displayed interactively and included in reports</a:t>
            </a:r>
          </a:p>
        </p:txBody>
      </p:sp>
    </p:spTree>
    <p:extLst>
      <p:ext uri="{BB962C8B-B14F-4D97-AF65-F5344CB8AC3E}">
        <p14:creationId xmlns:p14="http://schemas.microsoft.com/office/powerpoint/2010/main" val="2302615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7B754-F6A1-D894-B5F4-3ECC0E06BC59}"/>
              </a:ext>
            </a:extLst>
          </p:cNvPr>
          <p:cNvSpPr>
            <a:spLocks noGrp="1"/>
          </p:cNvSpPr>
          <p:nvPr>
            <p:ph type="title"/>
          </p:nvPr>
        </p:nvSpPr>
        <p:spPr/>
        <p:txBody>
          <a:bodyPr/>
          <a:lstStyle/>
          <a:p>
            <a:pPr marR="0" rtl="0"/>
            <a:r>
              <a:rPr lang="en-US" b="1" i="0" u="none" strike="noStrike" kern="100" baseline="0" dirty="0">
                <a:solidFill>
                  <a:srgbClr val="0F4761"/>
                </a:solidFill>
                <a:latin typeface="Times New Roman" panose="02020603050405020304" pitchFamily="18" charset="0"/>
              </a:rPr>
              <a:t>What Structure Relations Does NOT Do</a:t>
            </a:r>
          </a:p>
        </p:txBody>
      </p:sp>
      <p:sp>
        <p:nvSpPr>
          <p:cNvPr id="3" name="Text Placeholder 2">
            <a:extLst>
              <a:ext uri="{FF2B5EF4-FFF2-40B4-BE49-F238E27FC236}">
                <a16:creationId xmlns:a16="http://schemas.microsoft.com/office/drawing/2014/main" id="{7AF43DD8-392C-6F97-7A55-4CE1A9851776}"/>
              </a:ext>
            </a:extLst>
          </p:cNvPr>
          <p:cNvSpPr>
            <a:spLocks noGrp="1"/>
          </p:cNvSpPr>
          <p:nvPr>
            <p:ph type="body" idx="1"/>
          </p:nvPr>
        </p:nvSpPr>
        <p:spPr/>
        <p:txBody>
          <a:bodyPr>
            <a:normAutofit lnSpcReduction="10000"/>
          </a:bodyPr>
          <a:lstStyle/>
          <a:p>
            <a:pPr marR="0" lvl="0" rtl="0"/>
            <a:r>
              <a:rPr lang="en-CA" b="1" i="0" u="none" strike="noStrike" kern="100" baseline="0">
                <a:solidFill>
                  <a:srgbClr val="0F4761"/>
                </a:solidFill>
                <a:latin typeface="Times New Roman" panose="02020603050405020304" pitchFamily="18" charset="0"/>
              </a:rPr>
              <a:t>Scope of the Application</a:t>
            </a:r>
          </a:p>
          <a:p>
            <a:pPr marR="0" lvl="1" rtl="0"/>
            <a:r>
              <a:rPr lang="en-US" b="0" i="0" u="none" strike="noStrike" kern="100" baseline="0">
                <a:solidFill>
                  <a:srgbClr val="0F4761"/>
                </a:solidFill>
                <a:latin typeface="Times New Roman" panose="02020603050405020304" pitchFamily="18" charset="0"/>
              </a:rPr>
              <a:t>Structure Relations is intended as:</a:t>
            </a:r>
          </a:p>
          <a:p>
            <a:pPr marR="0" lvl="2" rtl="0"/>
            <a:r>
              <a:rPr lang="en-CA" b="0" i="1" u="none" strike="noStrike" kern="100" baseline="0">
                <a:solidFill>
                  <a:srgbClr val="0F4761"/>
                </a:solidFill>
                <a:latin typeface="Times New Roman" panose="02020603050405020304" pitchFamily="18" charset="0"/>
              </a:rPr>
              <a:t>A planning support tool</a:t>
            </a:r>
          </a:p>
          <a:p>
            <a:pPr marR="0" lvl="2" rtl="0"/>
            <a:r>
              <a:rPr lang="en-CA" b="0" i="1" u="none" strike="noStrike" kern="100" baseline="0">
                <a:solidFill>
                  <a:srgbClr val="0F4761"/>
                </a:solidFill>
                <a:latin typeface="Times New Roman" panose="02020603050405020304" pitchFamily="18" charset="0"/>
              </a:rPr>
              <a:t>A contour review aid</a:t>
            </a:r>
          </a:p>
          <a:p>
            <a:pPr marR="0" lvl="2" rtl="0"/>
            <a:r>
              <a:rPr lang="en-CA" b="0" i="1" u="none" strike="noStrike" kern="100" baseline="0">
                <a:solidFill>
                  <a:srgbClr val="0F4761"/>
                </a:solidFill>
                <a:latin typeface="Times New Roman" panose="02020603050405020304" pitchFamily="18" charset="0"/>
              </a:rPr>
              <a:t>A QA tool</a:t>
            </a:r>
          </a:p>
          <a:p>
            <a:pPr marR="0" lvl="1" rtl="0"/>
            <a:r>
              <a:rPr lang="en-CA" b="1" i="0" u="none" strike="noStrike" kern="100" baseline="0">
                <a:solidFill>
                  <a:srgbClr val="0F4761"/>
                </a:solidFill>
                <a:latin typeface="Times New Roman" panose="02020603050405020304" pitchFamily="18" charset="0"/>
              </a:rPr>
              <a:t>It Does Not</a:t>
            </a:r>
          </a:p>
          <a:p>
            <a:pPr marR="0" lvl="2" rtl="0"/>
            <a:r>
              <a:rPr lang="en-CA" b="0" i="1" u="none" strike="noStrike" kern="100" baseline="0">
                <a:solidFill>
                  <a:srgbClr val="0F4761"/>
                </a:solidFill>
                <a:latin typeface="Times New Roman" panose="02020603050405020304" pitchFamily="18" charset="0"/>
              </a:rPr>
              <a:t>Modify structures</a:t>
            </a:r>
          </a:p>
          <a:p>
            <a:pPr marR="0" lvl="2" rtl="0"/>
            <a:r>
              <a:rPr lang="en-CA" b="0" i="1" u="none" strike="noStrike" kern="100" baseline="0">
                <a:solidFill>
                  <a:srgbClr val="0F4761"/>
                </a:solidFill>
                <a:latin typeface="Times New Roman" panose="02020603050405020304" pitchFamily="18" charset="0"/>
              </a:rPr>
              <a:t>Generate structures</a:t>
            </a:r>
          </a:p>
          <a:p>
            <a:pPr marR="0" lvl="2" rtl="0"/>
            <a:r>
              <a:rPr lang="en-CA" b="0" i="1" u="none" strike="noStrike" kern="100" baseline="0">
                <a:solidFill>
                  <a:srgbClr val="0F4761"/>
                </a:solidFill>
                <a:latin typeface="Times New Roman" panose="02020603050405020304" pitchFamily="18" charset="0"/>
              </a:rPr>
              <a:t>Edit contours</a:t>
            </a:r>
          </a:p>
          <a:p>
            <a:pPr marR="0" lvl="2" rtl="0"/>
            <a:r>
              <a:rPr lang="en-CA" b="0" i="1" u="none" strike="noStrike" kern="100" baseline="0">
                <a:solidFill>
                  <a:srgbClr val="0F4761"/>
                </a:solidFill>
                <a:latin typeface="Times New Roman" panose="02020603050405020304" pitchFamily="18" charset="0"/>
              </a:rPr>
              <a:t>Assess contour quality</a:t>
            </a:r>
          </a:p>
          <a:p>
            <a:pPr marR="0" lvl="2" rtl="0"/>
            <a:r>
              <a:rPr lang="en-CA" b="0" i="1" u="none" strike="noStrike" kern="100" baseline="0">
                <a:solidFill>
                  <a:srgbClr val="0F4761"/>
                </a:solidFill>
                <a:latin typeface="Times New Roman" panose="02020603050405020304" pitchFamily="18" charset="0"/>
              </a:rPr>
              <a:t>Judge clinical appropriateness</a:t>
            </a:r>
          </a:p>
          <a:p>
            <a:pPr marR="0" lvl="2" rtl="0"/>
            <a:r>
              <a:rPr lang="en-CA" b="0" i="1" u="none" strike="noStrike" kern="100" baseline="0">
                <a:solidFill>
                  <a:srgbClr val="0F4761"/>
                </a:solidFill>
                <a:latin typeface="Times New Roman" panose="02020603050405020304" pitchFamily="18" charset="0"/>
              </a:rPr>
              <a:t>Evaluate plan dosimetry</a:t>
            </a:r>
          </a:p>
          <a:p>
            <a:pPr marR="0" lvl="1" rtl="0"/>
            <a:r>
              <a:rPr lang="en-US" b="0" i="0" u="none" strike="noStrike" kern="100" baseline="0">
                <a:solidFill>
                  <a:srgbClr val="0F4761"/>
                </a:solidFill>
                <a:latin typeface="Times New Roman" panose="02020603050405020304" pitchFamily="18" charset="0"/>
              </a:rPr>
              <a:t>The application validates relationships, not contouring decisions.</a:t>
            </a:r>
          </a:p>
        </p:txBody>
      </p:sp>
    </p:spTree>
    <p:extLst>
      <p:ext uri="{BB962C8B-B14F-4D97-AF65-F5344CB8AC3E}">
        <p14:creationId xmlns:p14="http://schemas.microsoft.com/office/powerpoint/2010/main" val="1783175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43FC6-ECBE-670A-B720-A8741C77855D}"/>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Typical Workflow</a:t>
            </a:r>
          </a:p>
        </p:txBody>
      </p:sp>
      <p:sp>
        <p:nvSpPr>
          <p:cNvPr id="3" name="Text Placeholder 2">
            <a:extLst>
              <a:ext uri="{FF2B5EF4-FFF2-40B4-BE49-F238E27FC236}">
                <a16:creationId xmlns:a16="http://schemas.microsoft.com/office/drawing/2014/main" id="{9C67A38F-E42E-34A8-980C-870502BBA8AF}"/>
              </a:ext>
            </a:extLst>
          </p:cNvPr>
          <p:cNvSpPr>
            <a:spLocks noGrp="1"/>
          </p:cNvSpPr>
          <p:nvPr>
            <p:ph type="body" idx="1"/>
          </p:nvPr>
        </p:nvSpPr>
        <p:spPr/>
        <p:txBody>
          <a:bodyPr>
            <a:normAutofit fontScale="92500" lnSpcReduction="10000"/>
          </a:bodyPr>
          <a:lstStyle/>
          <a:p>
            <a:pPr marR="0" lvl="0" rtl="0"/>
            <a:r>
              <a:rPr lang="en-US" b="1" i="0" u="none" strike="noStrike" kern="100" baseline="0">
                <a:solidFill>
                  <a:srgbClr val="0F4761"/>
                </a:solidFill>
                <a:latin typeface="Times New Roman" panose="02020603050405020304" pitchFamily="18" charset="0"/>
              </a:rPr>
              <a:t>From DICOM to Relationship Diagram</a:t>
            </a:r>
          </a:p>
          <a:p>
            <a:pPr marR="0" lvl="1" rtl="0"/>
            <a:r>
              <a:rPr lang="en-CA" b="1" i="0" u="none" strike="noStrike" kern="100" baseline="0">
                <a:solidFill>
                  <a:srgbClr val="0F4761"/>
                </a:solidFill>
                <a:latin typeface="Times New Roman" panose="02020603050405020304" pitchFamily="18" charset="0"/>
              </a:rPr>
              <a:t>Input</a:t>
            </a:r>
          </a:p>
          <a:p>
            <a:pPr marR="0" lvl="2" rtl="0"/>
            <a:r>
              <a:rPr lang="en-CA" b="0" i="1" u="none" strike="noStrike" kern="100" baseline="0">
                <a:solidFill>
                  <a:srgbClr val="0F4761"/>
                </a:solidFill>
                <a:latin typeface="Times New Roman" panose="02020603050405020304" pitchFamily="18" charset="0"/>
              </a:rPr>
              <a:t>RT Structure Set</a:t>
            </a:r>
          </a:p>
          <a:p>
            <a:pPr marR="0" lvl="2" rtl="0"/>
            <a:r>
              <a:rPr lang="en-CA" b="0" i="1" u="none" strike="noStrike" kern="100" baseline="0">
                <a:solidFill>
                  <a:srgbClr val="0F4761"/>
                </a:solidFill>
                <a:latin typeface="Times New Roman" panose="02020603050405020304" pitchFamily="18" charset="0"/>
              </a:rPr>
              <a:t>DICOM RT files</a:t>
            </a:r>
          </a:p>
          <a:p>
            <a:pPr marR="0" lvl="1" rtl="0"/>
            <a:r>
              <a:rPr lang="en-CA" b="1" i="0" u="none" strike="noStrike" kern="100" baseline="0">
                <a:solidFill>
                  <a:srgbClr val="0F4761"/>
                </a:solidFill>
                <a:latin typeface="Times New Roman" panose="02020603050405020304" pitchFamily="18" charset="0"/>
              </a:rPr>
              <a:t>Processing</a:t>
            </a:r>
          </a:p>
          <a:p>
            <a:pPr marR="0" lvl="2" rtl="0"/>
            <a:r>
              <a:rPr lang="en-CA" b="0" i="1" u="none" strike="noStrike" kern="100" baseline="0">
                <a:solidFill>
                  <a:srgbClr val="0F4761"/>
                </a:solidFill>
                <a:latin typeface="Times New Roman" panose="02020603050405020304" pitchFamily="18" charset="0"/>
              </a:rPr>
              <a:t>Load structure set</a:t>
            </a:r>
          </a:p>
          <a:p>
            <a:pPr marR="0" lvl="2" rtl="0"/>
            <a:r>
              <a:rPr lang="en-CA" b="0" i="1" u="none" strike="noStrike" kern="100" baseline="0">
                <a:solidFill>
                  <a:srgbClr val="0F4761"/>
                </a:solidFill>
                <a:latin typeface="Times New Roman" panose="02020603050405020304" pitchFamily="18" charset="0"/>
              </a:rPr>
              <a:t>Extract contour geometry</a:t>
            </a:r>
          </a:p>
          <a:p>
            <a:pPr marR="0" lvl="2" rtl="0"/>
            <a:r>
              <a:rPr lang="en-CA" b="0" i="1" u="none" strike="noStrike" kern="100" baseline="0">
                <a:solidFill>
                  <a:srgbClr val="0F4761"/>
                </a:solidFill>
                <a:latin typeface="Times New Roman" panose="02020603050405020304" pitchFamily="18" charset="0"/>
              </a:rPr>
              <a:t>Remove excluded structures</a:t>
            </a:r>
          </a:p>
          <a:p>
            <a:pPr marR="0" lvl="2" rtl="0"/>
            <a:r>
              <a:rPr lang="en-CA" b="0" i="1" u="none" strike="noStrike" kern="100" baseline="0">
                <a:solidFill>
                  <a:srgbClr val="0F4761"/>
                </a:solidFill>
                <a:latin typeface="Times New Roman" panose="02020603050405020304" pitchFamily="18" charset="0"/>
              </a:rPr>
              <a:t>Analyze pairwise relationships</a:t>
            </a:r>
          </a:p>
          <a:p>
            <a:pPr marR="0" lvl="2" rtl="0"/>
            <a:r>
              <a:rPr lang="en-CA" b="0" i="1" u="none" strike="noStrike" kern="100" baseline="0">
                <a:solidFill>
                  <a:srgbClr val="0F4761"/>
                </a:solidFill>
                <a:latin typeface="Times New Roman" panose="02020603050405020304" pitchFamily="18" charset="0"/>
              </a:rPr>
              <a:t>Calculate metrics</a:t>
            </a:r>
          </a:p>
          <a:p>
            <a:pPr marR="0" lvl="2" rtl="0"/>
            <a:r>
              <a:rPr lang="en-CA" b="0" i="1" u="none" strike="noStrike" kern="100" baseline="0">
                <a:solidFill>
                  <a:srgbClr val="0F4761"/>
                </a:solidFill>
                <a:latin typeface="Times New Roman" panose="02020603050405020304" pitchFamily="18" charset="0"/>
              </a:rPr>
              <a:t>Generate visual diagram</a:t>
            </a:r>
          </a:p>
          <a:p>
            <a:pPr marR="0" lvl="2" rtl="0"/>
            <a:r>
              <a:rPr lang="en-CA" b="0" i="1" u="none" strike="noStrike" kern="100" baseline="0">
                <a:solidFill>
                  <a:srgbClr val="0F4761"/>
                </a:solidFill>
                <a:latin typeface="Times New Roman" panose="02020603050405020304" pitchFamily="18" charset="0"/>
              </a:rPr>
              <a:t>Export PDF report</a:t>
            </a:r>
          </a:p>
          <a:p>
            <a:pPr marR="0" lvl="1" rtl="0"/>
            <a:r>
              <a:rPr lang="en-US" b="0" i="0" u="none" strike="noStrike" kern="100" baseline="0">
                <a:solidFill>
                  <a:srgbClr val="0F4761"/>
                </a:solidFill>
                <a:latin typeface="Times New Roman" panose="02020603050405020304" pitchFamily="18" charset="0"/>
              </a:rPr>
              <a:t>The final output includes both diagrams and tabulated relationship information. </a:t>
            </a:r>
          </a:p>
        </p:txBody>
      </p:sp>
    </p:spTree>
    <p:extLst>
      <p:ext uri="{BB962C8B-B14F-4D97-AF65-F5344CB8AC3E}">
        <p14:creationId xmlns:p14="http://schemas.microsoft.com/office/powerpoint/2010/main" val="4283306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FE868-EAF3-A731-B9BA-8A14FD7372A5}"/>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Interactive User Interface</a:t>
            </a:r>
          </a:p>
        </p:txBody>
      </p:sp>
      <p:sp>
        <p:nvSpPr>
          <p:cNvPr id="3" name="Text Placeholder 2">
            <a:extLst>
              <a:ext uri="{FF2B5EF4-FFF2-40B4-BE49-F238E27FC236}">
                <a16:creationId xmlns:a16="http://schemas.microsoft.com/office/drawing/2014/main" id="{F2B8DD72-8BDF-1491-644A-E986EEA4F8D8}"/>
              </a:ext>
            </a:extLst>
          </p:cNvPr>
          <p:cNvSpPr>
            <a:spLocks noGrp="1"/>
          </p:cNvSpPr>
          <p:nvPr>
            <p:ph type="body" idx="1"/>
          </p:nvPr>
        </p:nvSpPr>
        <p:spPr/>
        <p:txBody>
          <a:bodyPr>
            <a:normAutofit fontScale="62500" lnSpcReduction="20000"/>
          </a:bodyPr>
          <a:lstStyle/>
          <a:p>
            <a:pPr marR="0" lvl="0" rtl="0"/>
            <a:r>
              <a:rPr lang="en-CA" b="1" i="0" u="none" strike="noStrike" kern="100" baseline="0">
                <a:solidFill>
                  <a:srgbClr val="0F4761"/>
                </a:solidFill>
                <a:latin typeface="Times New Roman" panose="02020603050405020304" pitchFamily="18" charset="0"/>
              </a:rPr>
              <a:t>Exploring Relationships</a:t>
            </a:r>
          </a:p>
          <a:p>
            <a:pPr marR="0" lvl="1" rtl="0"/>
            <a:r>
              <a:rPr lang="en-CA" b="1" i="0" u="none" strike="noStrike" kern="100" baseline="0">
                <a:solidFill>
                  <a:srgbClr val="0F4761"/>
                </a:solidFill>
                <a:latin typeface="Times New Roman" panose="02020603050405020304" pitchFamily="18" charset="0"/>
              </a:rPr>
              <a:t>Structure Information</a:t>
            </a:r>
          </a:p>
          <a:p>
            <a:pPr marR="0" lvl="2" rtl="0"/>
            <a:r>
              <a:rPr lang="en-US" b="0" i="1" u="none" strike="noStrike" kern="100" baseline="0">
                <a:solidFill>
                  <a:srgbClr val="0F4761"/>
                </a:solidFill>
                <a:latin typeface="Times New Roman" panose="02020603050405020304" pitchFamily="18" charset="0"/>
              </a:rPr>
              <a:t>Hover over a structure to display:</a:t>
            </a:r>
          </a:p>
          <a:p>
            <a:pPr marR="0" lvl="3" rtl="0"/>
            <a:r>
              <a:rPr lang="en-CA" b="0" i="0" u="none" strike="noStrike" kern="100" baseline="0">
                <a:solidFill>
                  <a:srgbClr val="0F4761"/>
                </a:solidFill>
                <a:latin typeface="Times New Roman" panose="02020603050405020304" pitchFamily="18" charset="0"/>
              </a:rPr>
              <a:t>Volume</a:t>
            </a:r>
          </a:p>
          <a:p>
            <a:pPr marR="0" lvl="3" rtl="0"/>
            <a:r>
              <a:rPr lang="en-CA" b="0" i="0" u="none" strike="noStrike" kern="100" baseline="0">
                <a:solidFill>
                  <a:srgbClr val="0F4761"/>
                </a:solidFill>
                <a:latin typeface="Times New Roman" panose="02020603050405020304" pitchFamily="18" charset="0"/>
              </a:rPr>
              <a:t>Structure type</a:t>
            </a:r>
          </a:p>
          <a:p>
            <a:pPr marR="0" lvl="3" rtl="0"/>
            <a:r>
              <a:rPr lang="en-CA" b="0" i="0" u="none" strike="noStrike" kern="100" baseline="0">
                <a:solidFill>
                  <a:srgbClr val="0F4761"/>
                </a:solidFill>
                <a:latin typeface="Times New Roman" panose="02020603050405020304" pitchFamily="18" charset="0"/>
              </a:rPr>
              <a:t>Assigned Hounsfield units</a:t>
            </a:r>
          </a:p>
          <a:p>
            <a:pPr marR="0" lvl="3" rtl="0"/>
            <a:r>
              <a:rPr lang="en-CA" b="0" i="0" u="none" strike="noStrike" kern="100" baseline="0">
                <a:solidFill>
                  <a:srgbClr val="0F4761"/>
                </a:solidFill>
                <a:latin typeface="Times New Roman" panose="02020603050405020304" pitchFamily="18" charset="0"/>
              </a:rPr>
              <a:t>Additional metadata</a:t>
            </a:r>
          </a:p>
          <a:p>
            <a:pPr marR="0" lvl="1" rtl="0"/>
            <a:r>
              <a:rPr lang="en-CA" b="1" i="0" u="none" strike="noStrike" kern="100" baseline="0">
                <a:solidFill>
                  <a:srgbClr val="0F4761"/>
                </a:solidFill>
                <a:latin typeface="Times New Roman" panose="02020603050405020304" pitchFamily="18" charset="0"/>
              </a:rPr>
              <a:t>Relationship Information</a:t>
            </a:r>
          </a:p>
          <a:p>
            <a:pPr marR="0" lvl="2" rtl="0"/>
            <a:r>
              <a:rPr lang="en-US" b="0" i="1" u="none" strike="noStrike" kern="100" baseline="0">
                <a:solidFill>
                  <a:srgbClr val="0F4761"/>
                </a:solidFill>
                <a:latin typeface="Times New Roman" panose="02020603050405020304" pitchFamily="18" charset="0"/>
              </a:rPr>
              <a:t>Hover over relationship edges to display:</a:t>
            </a:r>
          </a:p>
          <a:p>
            <a:pPr marR="0" lvl="3" rtl="0"/>
            <a:r>
              <a:rPr lang="en-CA" b="0" i="0" u="none" strike="noStrike" kern="100" baseline="0">
                <a:solidFill>
                  <a:srgbClr val="0F4761"/>
                </a:solidFill>
                <a:latin typeface="Times New Roman" panose="02020603050405020304" pitchFamily="18" charset="0"/>
              </a:rPr>
              <a:t>Margin measurements</a:t>
            </a:r>
          </a:p>
          <a:p>
            <a:pPr marR="0" lvl="3" rtl="0"/>
            <a:r>
              <a:rPr lang="en-CA" b="0" i="0" u="none" strike="noStrike" kern="100" baseline="0">
                <a:solidFill>
                  <a:srgbClr val="0F4761"/>
                </a:solidFill>
                <a:latin typeface="Times New Roman" panose="02020603050405020304" pitchFamily="18" charset="0"/>
              </a:rPr>
              <a:t>Distances</a:t>
            </a:r>
          </a:p>
          <a:p>
            <a:pPr marR="0" lvl="3" rtl="0"/>
            <a:r>
              <a:rPr lang="en-CA" b="0" i="0" u="none" strike="noStrike" kern="100" baseline="0">
                <a:solidFill>
                  <a:srgbClr val="0F4761"/>
                </a:solidFill>
                <a:latin typeface="Times New Roman" panose="02020603050405020304" pitchFamily="18" charset="0"/>
              </a:rPr>
              <a:t>Overlap volumes</a:t>
            </a:r>
          </a:p>
          <a:p>
            <a:pPr marR="0" lvl="3" rtl="0"/>
            <a:r>
              <a:rPr lang="en-CA" b="0" i="0" u="none" strike="noStrike" kern="100" baseline="0">
                <a:solidFill>
                  <a:srgbClr val="0F4761"/>
                </a:solidFill>
                <a:latin typeface="Times New Roman" panose="02020603050405020304" pitchFamily="18" charset="0"/>
              </a:rPr>
              <a:t>Percent overlap</a:t>
            </a:r>
          </a:p>
          <a:p>
            <a:pPr marR="0" lvl="1" rtl="0"/>
            <a:r>
              <a:rPr lang="en-CA" b="1" i="0" u="none" strike="noStrike" kern="100" baseline="0">
                <a:solidFill>
                  <a:srgbClr val="0F4761"/>
                </a:solidFill>
                <a:latin typeface="Times New Roman" panose="02020603050405020304" pitchFamily="18" charset="0"/>
              </a:rPr>
              <a:t>User Controls</a:t>
            </a:r>
          </a:p>
          <a:p>
            <a:pPr marR="0" lvl="2" rtl="0"/>
            <a:r>
              <a:rPr lang="en-US" b="0" i="1" u="none" strike="noStrike" kern="100" baseline="0">
                <a:solidFill>
                  <a:srgbClr val="0F4761"/>
                </a:solidFill>
                <a:latin typeface="Times New Roman" panose="02020603050405020304" pitchFamily="18" charset="0"/>
              </a:rPr>
              <a:t>Right-click actions allow users to:</a:t>
            </a:r>
          </a:p>
          <a:p>
            <a:pPr marR="0" lvl="3" rtl="0"/>
            <a:r>
              <a:rPr lang="en-CA" b="0" i="0" u="none" strike="noStrike" kern="100" baseline="0">
                <a:solidFill>
                  <a:srgbClr val="0F4761"/>
                </a:solidFill>
                <a:latin typeface="Times New Roman" panose="02020603050405020304" pitchFamily="18" charset="0"/>
              </a:rPr>
              <a:t>Hide structures</a:t>
            </a:r>
          </a:p>
          <a:p>
            <a:pPr marR="0" lvl="3" rtl="0"/>
            <a:r>
              <a:rPr lang="en-CA" b="0" i="0" u="none" strike="noStrike" kern="100" baseline="0">
                <a:solidFill>
                  <a:srgbClr val="0F4761"/>
                </a:solidFill>
                <a:latin typeface="Times New Roman" panose="02020603050405020304" pitchFamily="18" charset="0"/>
              </a:rPr>
              <a:t>Hide relationships</a:t>
            </a:r>
          </a:p>
          <a:p>
            <a:pPr marR="0" lvl="3" rtl="0"/>
            <a:r>
              <a:rPr lang="en-CA" b="0" i="0" u="none" strike="noStrike" kern="100" baseline="0">
                <a:solidFill>
                  <a:srgbClr val="0F4761"/>
                </a:solidFill>
                <a:latin typeface="Times New Roman" panose="02020603050405020304" pitchFamily="18" charset="0"/>
              </a:rPr>
              <a:t>Restore relationships</a:t>
            </a:r>
          </a:p>
          <a:p>
            <a:pPr marR="0" lvl="3" rtl="0"/>
            <a:r>
              <a:rPr lang="en-CA" b="0" i="0" u="none" strike="noStrike" kern="100" baseline="0">
                <a:solidFill>
                  <a:srgbClr val="0F4761"/>
                </a:solidFill>
                <a:latin typeface="Times New Roman" panose="02020603050405020304" pitchFamily="18" charset="0"/>
              </a:rPr>
              <a:t>Add notes</a:t>
            </a:r>
          </a:p>
          <a:p>
            <a:pPr marR="0" lvl="3" rtl="0"/>
            <a:r>
              <a:rPr lang="en-CA" b="0" i="0" u="none" strike="noStrike" kern="100" baseline="0">
                <a:solidFill>
                  <a:srgbClr val="0F4761"/>
                </a:solidFill>
                <a:latin typeface="Times New Roman" panose="02020603050405020304" pitchFamily="18" charset="0"/>
              </a:rPr>
              <a:t>Select displayed metrics</a:t>
            </a:r>
          </a:p>
          <a:p>
            <a:pPr marR="0" lvl="1" rtl="0"/>
            <a:r>
              <a:rPr lang="en-US" b="0" i="0" u="none" strike="noStrike" kern="100" baseline="0">
                <a:solidFill>
                  <a:srgbClr val="0F4761"/>
                </a:solidFill>
                <a:latin typeface="Times New Roman" panose="02020603050405020304" pitchFamily="18" charset="0"/>
              </a:rPr>
              <a:t>These features support creation of customized QA diagrams. </a:t>
            </a:r>
          </a:p>
        </p:txBody>
      </p:sp>
    </p:spTree>
    <p:extLst>
      <p:ext uri="{BB962C8B-B14F-4D97-AF65-F5344CB8AC3E}">
        <p14:creationId xmlns:p14="http://schemas.microsoft.com/office/powerpoint/2010/main" val="4013754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A13A-69DF-0F5D-82D3-7FF8CAB23F08}"/>
              </a:ext>
            </a:extLst>
          </p:cNvPr>
          <p:cNvSpPr>
            <a:spLocks noGrp="1"/>
          </p:cNvSpPr>
          <p:nvPr>
            <p:ph type="title"/>
          </p:nvPr>
        </p:nvSpPr>
        <p:spPr/>
        <p:txBody>
          <a:bodyPr/>
          <a:lstStyle/>
          <a:p>
            <a:pPr marR="0" rtl="0"/>
            <a:r>
              <a:rPr lang="en-US" b="1" i="0" u="none" strike="noStrike" kern="100" baseline="0" dirty="0">
                <a:solidFill>
                  <a:srgbClr val="0F4761"/>
                </a:solidFill>
                <a:latin typeface="Times New Roman" panose="02020603050405020304" pitchFamily="18" charset="0"/>
              </a:rPr>
              <a:t>Planning Preparation Example</a:t>
            </a:r>
          </a:p>
        </p:txBody>
      </p:sp>
      <p:sp>
        <p:nvSpPr>
          <p:cNvPr id="3" name="Text Placeholder 2">
            <a:extLst>
              <a:ext uri="{FF2B5EF4-FFF2-40B4-BE49-F238E27FC236}">
                <a16:creationId xmlns:a16="http://schemas.microsoft.com/office/drawing/2014/main" id="{8B117127-1833-086A-F9B7-37C46400567A}"/>
              </a:ext>
            </a:extLst>
          </p:cNvPr>
          <p:cNvSpPr>
            <a:spLocks noGrp="1"/>
          </p:cNvSpPr>
          <p:nvPr>
            <p:ph type="body" idx="1"/>
          </p:nvPr>
        </p:nvSpPr>
        <p:spPr/>
        <p:txBody>
          <a:bodyPr>
            <a:normAutofit fontScale="70000" lnSpcReduction="20000"/>
          </a:bodyPr>
          <a:lstStyle/>
          <a:p>
            <a:pPr marR="0" lvl="0" rtl="0"/>
            <a:r>
              <a:rPr lang="en-CA" b="1" i="0" u="none" strike="noStrike" kern="100" baseline="0">
                <a:solidFill>
                  <a:srgbClr val="0F4761"/>
                </a:solidFill>
                <a:latin typeface="Times New Roman" panose="02020603050405020304" pitchFamily="18" charset="0"/>
              </a:rPr>
              <a:t>Dosimetrist Workflow</a:t>
            </a:r>
          </a:p>
          <a:p>
            <a:pPr marR="0" lvl="1" rtl="0"/>
            <a:r>
              <a:rPr lang="en-CA" b="1" i="0" u="none" strike="noStrike" kern="100" baseline="0">
                <a:solidFill>
                  <a:srgbClr val="0F4761"/>
                </a:solidFill>
                <a:latin typeface="Times New Roman" panose="02020603050405020304" pitchFamily="18" charset="0"/>
              </a:rPr>
              <a:t>Initial Inputs</a:t>
            </a:r>
          </a:p>
          <a:p>
            <a:pPr marR="0" lvl="2" rtl="0"/>
            <a:r>
              <a:rPr lang="en-CA" b="0" i="1" u="none" strike="noStrike" kern="100" baseline="0">
                <a:solidFill>
                  <a:srgbClr val="0F4761"/>
                </a:solidFill>
                <a:latin typeface="Times New Roman" panose="02020603050405020304" pitchFamily="18" charset="0"/>
              </a:rPr>
              <a:t>Planning CT</a:t>
            </a:r>
          </a:p>
          <a:p>
            <a:pPr marR="0" lvl="2" rtl="0"/>
            <a:r>
              <a:rPr lang="en-CA" b="0" i="1" u="none" strike="noStrike" kern="100" baseline="0">
                <a:solidFill>
                  <a:srgbClr val="0F4761"/>
                </a:solidFill>
                <a:latin typeface="Times New Roman" panose="02020603050405020304" pitchFamily="18" charset="0"/>
              </a:rPr>
              <a:t>Contoured structure set</a:t>
            </a:r>
          </a:p>
          <a:p>
            <a:pPr marR="0" lvl="2" rtl="0"/>
            <a:r>
              <a:rPr lang="en-CA" b="0" i="1" u="none" strike="noStrike" kern="100" baseline="0">
                <a:solidFill>
                  <a:srgbClr val="0F4761"/>
                </a:solidFill>
                <a:latin typeface="Times New Roman" panose="02020603050405020304" pitchFamily="18" charset="0"/>
              </a:rPr>
              <a:t>Two PTV targets</a:t>
            </a:r>
          </a:p>
          <a:p>
            <a:pPr marR="0" lvl="1" rtl="0"/>
            <a:r>
              <a:rPr lang="en-CA" b="1" i="0" u="none" strike="noStrike" kern="100" baseline="0">
                <a:solidFill>
                  <a:srgbClr val="0F4761"/>
                </a:solidFill>
                <a:latin typeface="Times New Roman" panose="02020603050405020304" pitchFamily="18" charset="0"/>
              </a:rPr>
              <a:t>Analysis</a:t>
            </a:r>
          </a:p>
          <a:p>
            <a:pPr marR="0" lvl="2" rtl="0"/>
            <a:r>
              <a:rPr lang="en-CA" b="0" i="1" u="none" strike="noStrike" kern="100" baseline="0">
                <a:solidFill>
                  <a:srgbClr val="0F4761"/>
                </a:solidFill>
                <a:latin typeface="Times New Roman" panose="02020603050405020304" pitchFamily="18" charset="0"/>
              </a:rPr>
              <a:t>Generate:</a:t>
            </a:r>
          </a:p>
          <a:p>
            <a:pPr marR="0" lvl="2" rtl="0"/>
            <a:r>
              <a:rPr lang="en-CA" b="1" i="1" u="none" strike="noStrike" kern="100" baseline="0">
                <a:solidFill>
                  <a:srgbClr val="0F4761"/>
                </a:solidFill>
                <a:latin typeface="Times New Roman" panose="02020603050405020304" pitchFamily="18" charset="0"/>
              </a:rPr>
              <a:t>Target-OAR overlap diagram</a:t>
            </a:r>
          </a:p>
          <a:p>
            <a:pPr marR="0" lvl="3" rtl="0"/>
            <a:r>
              <a:rPr lang="en-CA" b="0" i="0" u="none" strike="noStrike" kern="100" baseline="0">
                <a:solidFill>
                  <a:srgbClr val="0F4761"/>
                </a:solidFill>
                <a:latin typeface="Times New Roman" panose="02020603050405020304" pitchFamily="18" charset="0"/>
              </a:rPr>
              <a:t>Identify overlapping OARs</a:t>
            </a:r>
          </a:p>
          <a:p>
            <a:pPr marR="0" lvl="3" rtl="0"/>
            <a:r>
              <a:rPr lang="en-CA" b="0" i="0" u="none" strike="noStrike" kern="100" baseline="0">
                <a:solidFill>
                  <a:srgbClr val="0F4761"/>
                </a:solidFill>
                <a:latin typeface="Times New Roman" panose="02020603050405020304" pitchFamily="18" charset="0"/>
              </a:rPr>
              <a:t>Display overlap percentages</a:t>
            </a:r>
          </a:p>
          <a:p>
            <a:pPr marR="0" lvl="2" rtl="0"/>
            <a:r>
              <a:rPr lang="en-CA" b="1" i="1" u="none" strike="noStrike" kern="100" baseline="0">
                <a:solidFill>
                  <a:srgbClr val="0F4761"/>
                </a:solidFill>
                <a:latin typeface="Times New Roman" panose="02020603050405020304" pitchFamily="18" charset="0"/>
              </a:rPr>
              <a:t>Distance diagram</a:t>
            </a:r>
          </a:p>
          <a:p>
            <a:pPr marR="0" lvl="3" rtl="0"/>
            <a:r>
              <a:rPr lang="en-CA" b="0" i="0" u="none" strike="noStrike" kern="100" baseline="0">
                <a:solidFill>
                  <a:srgbClr val="0F4761"/>
                </a:solidFill>
                <a:latin typeface="Times New Roman" panose="02020603050405020304" pitchFamily="18" charset="0"/>
              </a:rPr>
              <a:t>Distance between targets</a:t>
            </a:r>
          </a:p>
          <a:p>
            <a:pPr marR="0" lvl="3" rtl="0"/>
            <a:r>
              <a:rPr lang="en-US" b="0" i="0" u="none" strike="noStrike" kern="100" baseline="0">
                <a:solidFill>
                  <a:srgbClr val="0F4761"/>
                </a:solidFill>
                <a:latin typeface="Times New Roman" panose="02020603050405020304" pitchFamily="18" charset="0"/>
              </a:rPr>
              <a:t>Distance between targets and OARs</a:t>
            </a:r>
          </a:p>
          <a:p>
            <a:pPr marR="0" lvl="2" rtl="0"/>
            <a:r>
              <a:rPr lang="en-CA" b="1" i="1" u="none" strike="noStrike" kern="100" baseline="0">
                <a:solidFill>
                  <a:srgbClr val="0F4761"/>
                </a:solidFill>
                <a:latin typeface="Times New Roman" panose="02020603050405020304" pitchFamily="18" charset="0"/>
              </a:rPr>
              <a:t>Benefits</a:t>
            </a:r>
          </a:p>
          <a:p>
            <a:pPr marR="0" lvl="2" rtl="0"/>
            <a:r>
              <a:rPr lang="en-CA" b="0" i="1" u="none" strike="noStrike" kern="100" baseline="0">
                <a:solidFill>
                  <a:srgbClr val="0F4761"/>
                </a:solidFill>
                <a:latin typeface="Times New Roman" panose="02020603050405020304" pitchFamily="18" charset="0"/>
              </a:rPr>
              <a:t>Supports:</a:t>
            </a:r>
          </a:p>
          <a:p>
            <a:pPr marR="0" lvl="3" rtl="0"/>
            <a:r>
              <a:rPr lang="en-CA" b="0" i="0" u="none" strike="noStrike" kern="100" baseline="0">
                <a:solidFill>
                  <a:srgbClr val="0F4761"/>
                </a:solidFill>
                <a:latin typeface="Times New Roman" panose="02020603050405020304" pitchFamily="18" charset="0"/>
              </a:rPr>
              <a:t>Selection of optimization structures</a:t>
            </a:r>
          </a:p>
          <a:p>
            <a:pPr marR="0" lvl="3" rtl="0"/>
            <a:r>
              <a:rPr lang="en-CA" b="0" i="0" u="none" strike="noStrike" kern="100" baseline="0">
                <a:solidFill>
                  <a:srgbClr val="0F4761"/>
                </a:solidFill>
                <a:latin typeface="Times New Roman" panose="02020603050405020304" pitchFamily="18" charset="0"/>
              </a:rPr>
              <a:t>Initial beam arrangement</a:t>
            </a:r>
          </a:p>
          <a:p>
            <a:pPr marR="0" lvl="3" rtl="0"/>
            <a:r>
              <a:rPr lang="en-CA" b="0" i="0" u="none" strike="noStrike" kern="100" baseline="0">
                <a:solidFill>
                  <a:srgbClr val="0F4761"/>
                </a:solidFill>
                <a:latin typeface="Times New Roman" panose="02020603050405020304" pitchFamily="18" charset="0"/>
              </a:rPr>
              <a:t>Optimization priorities</a:t>
            </a:r>
          </a:p>
          <a:p>
            <a:pPr marR="0" lvl="3" rtl="0"/>
            <a:r>
              <a:rPr lang="en-CA" b="0" i="0" u="none" strike="noStrike" kern="100" baseline="0">
                <a:solidFill>
                  <a:srgbClr val="0F4761"/>
                </a:solidFill>
                <a:latin typeface="Times New Roman" panose="02020603050405020304" pitchFamily="18" charset="0"/>
              </a:rPr>
              <a:t>Anticipation of planning tradeoffs</a:t>
            </a:r>
          </a:p>
        </p:txBody>
      </p:sp>
    </p:spTree>
    <p:extLst>
      <p:ext uri="{BB962C8B-B14F-4D97-AF65-F5344CB8AC3E}">
        <p14:creationId xmlns:p14="http://schemas.microsoft.com/office/powerpoint/2010/main" val="3751408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56C0E-50DC-2BD6-67E4-F6B83DE22EA1}"/>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Plan QA Example</a:t>
            </a:r>
          </a:p>
        </p:txBody>
      </p:sp>
      <p:sp>
        <p:nvSpPr>
          <p:cNvPr id="3" name="Text Placeholder 2">
            <a:extLst>
              <a:ext uri="{FF2B5EF4-FFF2-40B4-BE49-F238E27FC236}">
                <a16:creationId xmlns:a16="http://schemas.microsoft.com/office/drawing/2014/main" id="{BBCEF2C0-12D6-BA64-495A-1C3376BEA08E}"/>
              </a:ext>
            </a:extLst>
          </p:cNvPr>
          <p:cNvSpPr>
            <a:spLocks noGrp="1"/>
          </p:cNvSpPr>
          <p:nvPr>
            <p:ph type="body" idx="1"/>
          </p:nvPr>
        </p:nvSpPr>
        <p:spPr/>
        <p:txBody>
          <a:bodyPr>
            <a:normAutofit lnSpcReduction="10000"/>
          </a:bodyPr>
          <a:lstStyle/>
          <a:p>
            <a:pPr marR="0" lvl="0" rtl="0"/>
            <a:r>
              <a:rPr lang="en-CA" b="1" i="0" u="none" strike="noStrike" kern="100" baseline="0">
                <a:solidFill>
                  <a:srgbClr val="0F4761"/>
                </a:solidFill>
                <a:latin typeface="Times New Roman" panose="02020603050405020304" pitchFamily="18" charset="0"/>
              </a:rPr>
              <a:t>Physicist Workflow</a:t>
            </a:r>
          </a:p>
          <a:p>
            <a:pPr marR="0" lvl="1" rtl="0"/>
            <a:r>
              <a:rPr lang="en-US" b="0" i="0" u="none" strike="noStrike" kern="100" baseline="0">
                <a:solidFill>
                  <a:srgbClr val="0F4761"/>
                </a:solidFill>
                <a:latin typeface="Times New Roman" panose="02020603050405020304" pitchFamily="18" charset="0"/>
              </a:rPr>
              <a:t>Structure Relations provides rapid verification that expected relationships exist.</a:t>
            </a:r>
          </a:p>
          <a:p>
            <a:pPr marR="0" lvl="1" rtl="0"/>
            <a:r>
              <a:rPr lang="en-CA" b="1" i="0" u="none" strike="noStrike" kern="100" baseline="0">
                <a:solidFill>
                  <a:srgbClr val="0F4761"/>
                </a:solidFill>
                <a:latin typeface="Times New Roman" panose="02020603050405020304" pitchFamily="18" charset="0"/>
              </a:rPr>
              <a:t>Examples</a:t>
            </a:r>
          </a:p>
          <a:p>
            <a:pPr marR="0" lvl="2" rtl="0"/>
            <a:r>
              <a:rPr lang="en-CA" b="0" i="1" u="none" strike="noStrike" kern="100" baseline="0">
                <a:solidFill>
                  <a:srgbClr val="0F4761"/>
                </a:solidFill>
                <a:latin typeface="Times New Roman" panose="02020603050405020304" pitchFamily="18" charset="0"/>
              </a:rPr>
              <a:t>Verify that:</a:t>
            </a:r>
          </a:p>
          <a:p>
            <a:pPr marR="0" lvl="3" rtl="0"/>
            <a:r>
              <a:rPr lang="en-US" b="0" i="0" u="none" strike="noStrike" kern="100" baseline="0">
                <a:solidFill>
                  <a:srgbClr val="0F4761"/>
                </a:solidFill>
                <a:latin typeface="Times New Roman" panose="02020603050405020304" pitchFamily="18" charset="0"/>
              </a:rPr>
              <a:t>GTV is contained in CTV</a:t>
            </a:r>
          </a:p>
          <a:p>
            <a:pPr marR="0" lvl="3" rtl="0"/>
            <a:r>
              <a:rPr lang="en-US" b="0" i="0" u="none" strike="noStrike" kern="100" baseline="0">
                <a:solidFill>
                  <a:srgbClr val="0F4761"/>
                </a:solidFill>
                <a:latin typeface="Times New Roman" panose="02020603050405020304" pitchFamily="18" charset="0"/>
              </a:rPr>
              <a:t>CTV is contained in PTV</a:t>
            </a:r>
          </a:p>
          <a:p>
            <a:pPr marR="0" lvl="3" rtl="0"/>
            <a:r>
              <a:rPr lang="en-CA" b="0" i="0" u="none" strike="noStrike" kern="100" baseline="0">
                <a:solidFill>
                  <a:srgbClr val="0F4761"/>
                </a:solidFill>
                <a:latin typeface="Times New Roman" panose="02020603050405020304" pitchFamily="18" charset="0"/>
              </a:rPr>
              <a:t>Expansion margins are appropriate</a:t>
            </a:r>
          </a:p>
          <a:p>
            <a:pPr marR="0" lvl="3" rtl="0"/>
            <a:r>
              <a:rPr lang="en-US" b="0" i="0" u="none" strike="noStrike" kern="100" baseline="0">
                <a:solidFill>
                  <a:srgbClr val="0F4761"/>
                </a:solidFill>
                <a:latin typeface="Times New Roman" panose="02020603050405020304" pitchFamily="18" charset="0"/>
              </a:rPr>
              <a:t>Optimization structures were generated correctly</a:t>
            </a:r>
          </a:p>
          <a:p>
            <a:pPr marR="0" lvl="3" rtl="0"/>
            <a:r>
              <a:rPr lang="en-CA" b="0" i="0" u="none" strike="noStrike" kern="100" baseline="0">
                <a:solidFill>
                  <a:srgbClr val="0F4761"/>
                </a:solidFill>
                <a:latin typeface="Times New Roman" panose="02020603050405020304" pitchFamily="18" charset="0"/>
              </a:rPr>
              <a:t>Structures are labeled consistently</a:t>
            </a:r>
          </a:p>
          <a:p>
            <a:pPr marR="0" lvl="2" rtl="0"/>
            <a:r>
              <a:rPr lang="en-CA" b="0" i="1" u="none" strike="noStrike" kern="100" baseline="0">
                <a:solidFill>
                  <a:srgbClr val="0F4761"/>
                </a:solidFill>
                <a:latin typeface="Times New Roman" panose="02020603050405020304" pitchFamily="18" charset="0"/>
              </a:rPr>
              <a:t>Example:</a:t>
            </a:r>
          </a:p>
          <a:p>
            <a:pPr marR="0" lvl="3" rtl="0"/>
            <a:r>
              <a:rPr lang="fr-FR" b="0" i="0" u="none" strike="noStrike" kern="100" baseline="0">
                <a:solidFill>
                  <a:srgbClr val="0F4761"/>
                </a:solidFill>
                <a:latin typeface="Times New Roman" panose="02020603050405020304" pitchFamily="18" charset="0"/>
              </a:rPr>
              <a:t>CTV_1 contains GTV_1</a:t>
            </a:r>
          </a:p>
          <a:p>
            <a:pPr marR="0" lvl="3" rtl="0"/>
            <a:r>
              <a:rPr lang="fr-FR" b="0" i="0" u="none" strike="noStrike" kern="100" baseline="0">
                <a:solidFill>
                  <a:srgbClr val="0F4761"/>
                </a:solidFill>
                <a:latin typeface="Times New Roman" panose="02020603050405020304" pitchFamily="18" charset="0"/>
              </a:rPr>
              <a:t>PTV_1 contains CTV_1</a:t>
            </a:r>
          </a:p>
          <a:p>
            <a:pPr marR="0" lvl="3" rtl="0"/>
            <a:r>
              <a:rPr lang="en-US" b="0" i="0" u="none" strike="noStrike" kern="100" baseline="0">
                <a:solidFill>
                  <a:srgbClr val="0F4761"/>
                </a:solidFill>
                <a:latin typeface="Times New Roman" panose="02020603050405020304" pitchFamily="18" charset="0"/>
              </a:rPr>
              <a:t>Opt-Bladder partitions Bladder and borders the target.</a:t>
            </a:r>
          </a:p>
        </p:txBody>
      </p:sp>
    </p:spTree>
    <p:extLst>
      <p:ext uri="{BB962C8B-B14F-4D97-AF65-F5344CB8AC3E}">
        <p14:creationId xmlns:p14="http://schemas.microsoft.com/office/powerpoint/2010/main" val="3687211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D7F-15F5-3DFB-DC48-27AC722E8676}"/>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Failure Investigation</a:t>
            </a:r>
          </a:p>
        </p:txBody>
      </p:sp>
      <p:sp>
        <p:nvSpPr>
          <p:cNvPr id="3" name="Text Placeholder 2">
            <a:extLst>
              <a:ext uri="{FF2B5EF4-FFF2-40B4-BE49-F238E27FC236}">
                <a16:creationId xmlns:a16="http://schemas.microsoft.com/office/drawing/2014/main" id="{D8EF8031-1501-71DB-9908-A76E5C965C34}"/>
              </a:ext>
            </a:extLst>
          </p:cNvPr>
          <p:cNvSpPr>
            <a:spLocks noGrp="1"/>
          </p:cNvSpPr>
          <p:nvPr>
            <p:ph type="body" idx="1"/>
          </p:nvPr>
        </p:nvSpPr>
        <p:spPr/>
        <p:txBody>
          <a:bodyPr>
            <a:normAutofit fontScale="77500" lnSpcReduction="20000"/>
          </a:bodyPr>
          <a:lstStyle/>
          <a:p>
            <a:pPr marR="0" lvl="0" rtl="0"/>
            <a:r>
              <a:rPr lang="en-US" b="1" i="0" u="none" strike="noStrike" kern="100" baseline="0">
                <a:solidFill>
                  <a:srgbClr val="0F4761"/>
                </a:solidFill>
                <a:latin typeface="Times New Roman" panose="02020603050405020304" pitchFamily="18" charset="0"/>
              </a:rPr>
              <a:t>Finding the Cause of Relationship Violations</a:t>
            </a:r>
          </a:p>
          <a:p>
            <a:pPr marR="0" lvl="1" rtl="0"/>
            <a:r>
              <a:rPr lang="en-CA" b="0" i="0" u="none" strike="noStrike" kern="100" baseline="0">
                <a:solidFill>
                  <a:srgbClr val="0F4761"/>
                </a:solidFill>
                <a:latin typeface="Times New Roman" panose="02020603050405020304" pitchFamily="18" charset="0"/>
              </a:rPr>
              <a:t>When expected relationships fail:</a:t>
            </a:r>
          </a:p>
          <a:p>
            <a:pPr marR="0" lvl="2" rtl="0"/>
            <a:r>
              <a:rPr lang="en-CA" b="1" i="1" u="none" strike="noStrike" kern="100" baseline="0">
                <a:solidFill>
                  <a:srgbClr val="0F4761"/>
                </a:solidFill>
                <a:latin typeface="Times New Roman" panose="02020603050405020304" pitchFamily="18" charset="0"/>
              </a:rPr>
              <a:t>Slice-Based Review</a:t>
            </a:r>
          </a:p>
          <a:p>
            <a:pPr marR="0" lvl="3" rtl="0"/>
            <a:r>
              <a:rPr lang="en-CA" b="0" i="0" u="none" strike="noStrike" kern="100" baseline="0">
                <a:solidFill>
                  <a:srgbClr val="0F4761"/>
                </a:solidFill>
                <a:latin typeface="Times New Roman" panose="02020603050405020304" pitchFamily="18" charset="0"/>
              </a:rPr>
              <a:t>The application can display:</a:t>
            </a:r>
          </a:p>
          <a:p>
            <a:pPr marR="0" lvl="4" rtl="0"/>
            <a:r>
              <a:rPr lang="en-CA" b="0" i="1" u="none" strike="noStrike" kern="100" baseline="0">
                <a:solidFill>
                  <a:srgbClr val="595959"/>
                </a:solidFill>
                <a:latin typeface="Times New Roman" panose="02020603050405020304" pitchFamily="18" charset="0"/>
              </a:rPr>
              <a:t>Slice-level relationships</a:t>
            </a:r>
          </a:p>
          <a:p>
            <a:pPr marR="0" lvl="4" rtl="0"/>
            <a:r>
              <a:rPr lang="en-CA" b="0" i="1" u="none" strike="noStrike" kern="100" baseline="0">
                <a:solidFill>
                  <a:srgbClr val="595959"/>
                </a:solidFill>
                <a:latin typeface="Times New Roman" panose="02020603050405020304" pitchFamily="18" charset="0"/>
              </a:rPr>
              <a:t>2D contour comparisons</a:t>
            </a:r>
          </a:p>
          <a:p>
            <a:pPr marR="0" lvl="4" rtl="0"/>
            <a:r>
              <a:rPr lang="en-CA" b="0" i="1" u="none" strike="noStrike" kern="100" baseline="0">
                <a:solidFill>
                  <a:srgbClr val="595959"/>
                </a:solidFill>
                <a:latin typeface="Times New Roman" panose="02020603050405020304" pitchFamily="18" charset="0"/>
              </a:rPr>
              <a:t>Problem locations</a:t>
            </a:r>
          </a:p>
          <a:p>
            <a:pPr marR="0" lvl="2" rtl="0"/>
            <a:r>
              <a:rPr lang="en-CA" b="1" i="1" u="none" strike="noStrike" kern="100" baseline="0">
                <a:solidFill>
                  <a:srgbClr val="0F4761"/>
                </a:solidFill>
                <a:latin typeface="Times New Roman" panose="02020603050405020304" pitchFamily="18" charset="0"/>
              </a:rPr>
              <a:t>Example</a:t>
            </a:r>
          </a:p>
          <a:p>
            <a:pPr marR="0" lvl="3" rtl="0"/>
            <a:r>
              <a:rPr lang="en-CA" b="0" i="0" u="none" strike="noStrike" kern="100" baseline="0">
                <a:solidFill>
                  <a:srgbClr val="0F4761"/>
                </a:solidFill>
                <a:latin typeface="Times New Roman" panose="02020603050405020304" pitchFamily="18" charset="0"/>
              </a:rPr>
              <a:t>Expected:</a:t>
            </a:r>
          </a:p>
          <a:p>
            <a:pPr marR="0" lvl="3" rtl="0"/>
            <a:r>
              <a:rPr lang="en-CA" b="0" i="0" u="none" strike="noStrike" kern="100" baseline="0">
                <a:solidFill>
                  <a:srgbClr val="0F4761"/>
                </a:solidFill>
                <a:latin typeface="Times New Roman" panose="02020603050405020304" pitchFamily="18" charset="0"/>
              </a:rPr>
              <a:t>PTV contains GTV</a:t>
            </a:r>
          </a:p>
          <a:p>
            <a:pPr marR="0" lvl="3" rtl="0"/>
            <a:r>
              <a:rPr lang="en-CA" b="0" i="0" u="none" strike="noStrike" kern="100" baseline="0">
                <a:solidFill>
                  <a:srgbClr val="0F4761"/>
                </a:solidFill>
                <a:latin typeface="Times New Roman" panose="02020603050405020304" pitchFamily="18" charset="0"/>
              </a:rPr>
              <a:t>Observed:</a:t>
            </a:r>
          </a:p>
          <a:p>
            <a:pPr marR="0" lvl="3" rtl="0"/>
            <a:r>
              <a:rPr lang="en-CA" b="0" i="0" u="none" strike="noStrike" kern="100" baseline="0">
                <a:solidFill>
                  <a:srgbClr val="0F4761"/>
                </a:solidFill>
                <a:latin typeface="Times New Roman" panose="02020603050405020304" pitchFamily="18" charset="0"/>
              </a:rPr>
              <a:t>PTV overlaps GTV</a:t>
            </a:r>
          </a:p>
          <a:p>
            <a:pPr marR="0" lvl="3" rtl="0"/>
            <a:r>
              <a:rPr lang="en-CA" b="0" i="0" u="none" strike="noStrike" kern="100" baseline="0">
                <a:solidFill>
                  <a:srgbClr val="0F4761"/>
                </a:solidFill>
                <a:latin typeface="Times New Roman" panose="02020603050405020304" pitchFamily="18" charset="0"/>
              </a:rPr>
              <a:t>Investigation reveals:</a:t>
            </a:r>
          </a:p>
          <a:p>
            <a:pPr marR="0" lvl="4" rtl="0"/>
            <a:r>
              <a:rPr lang="en-US" b="0" i="1" u="none" strike="noStrike" kern="100" baseline="0">
                <a:solidFill>
                  <a:srgbClr val="595959"/>
                </a:solidFill>
                <a:latin typeface="Times New Roman" panose="02020603050405020304" pitchFamily="18" charset="0"/>
              </a:rPr>
              <a:t>Relationship correct on most slices</a:t>
            </a:r>
          </a:p>
          <a:p>
            <a:pPr marR="0" lvl="4" rtl="0"/>
            <a:r>
              <a:rPr lang="en-US" b="0" i="1" u="none" strike="noStrike" kern="100" baseline="0">
                <a:solidFill>
                  <a:srgbClr val="595959"/>
                </a:solidFill>
                <a:latin typeface="Times New Roman" panose="02020603050405020304" pitchFamily="18" charset="0"/>
              </a:rPr>
              <a:t>Failure occurs on only two slices</a:t>
            </a:r>
          </a:p>
          <a:p>
            <a:pPr marR="0" lvl="3" rtl="0"/>
            <a:r>
              <a:rPr lang="en-CA" b="0" i="0" u="none" strike="noStrike" kern="100" baseline="0">
                <a:solidFill>
                  <a:srgbClr val="0F4761"/>
                </a:solidFill>
                <a:latin typeface="Times New Roman" panose="02020603050405020304" pitchFamily="18" charset="0"/>
              </a:rPr>
              <a:t>Cause:</a:t>
            </a:r>
          </a:p>
          <a:p>
            <a:pPr marR="0" lvl="4" rtl="0"/>
            <a:r>
              <a:rPr lang="en-US" b="0" i="1" u="none" strike="noStrike" kern="100" baseline="0">
                <a:solidFill>
                  <a:srgbClr val="595959"/>
                </a:solidFill>
                <a:latin typeface="Times New Roman" panose="02020603050405020304" pitchFamily="18" charset="0"/>
              </a:rPr>
              <a:t>GTV generated from MIP CT</a:t>
            </a:r>
          </a:p>
          <a:p>
            <a:pPr marR="0" lvl="4" rtl="0"/>
            <a:r>
              <a:rPr lang="en-US" b="0" i="1" u="none" strike="noStrike" kern="100" baseline="0">
                <a:solidFill>
                  <a:srgbClr val="595959"/>
                </a:solidFill>
                <a:latin typeface="Times New Roman" panose="02020603050405020304" pitchFamily="18" charset="0"/>
              </a:rPr>
              <a:t>PTV manually cropped against chest wall</a:t>
            </a:r>
          </a:p>
          <a:p>
            <a:pPr marR="0" lvl="5" rtl="0"/>
            <a:r>
              <a:rPr lang="en-US" b="0" i="0" u="none" strike="noStrike" kern="100" baseline="0">
                <a:solidFill>
                  <a:srgbClr val="595959"/>
                </a:solidFill>
                <a:latin typeface="Times New Roman" panose="02020603050405020304" pitchFamily="18" charset="0"/>
              </a:rPr>
              <a:t>The relationship diagram immediately identifies where review should focus.</a:t>
            </a:r>
          </a:p>
        </p:txBody>
      </p:sp>
    </p:spTree>
    <p:extLst>
      <p:ext uri="{BB962C8B-B14F-4D97-AF65-F5344CB8AC3E}">
        <p14:creationId xmlns:p14="http://schemas.microsoft.com/office/powerpoint/2010/main" val="2357784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A8C01-9E95-5CD3-9AA4-83CF2E900454}"/>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Relationship Model</a:t>
            </a:r>
          </a:p>
        </p:txBody>
      </p:sp>
      <p:sp>
        <p:nvSpPr>
          <p:cNvPr id="3" name="Text Placeholder 2">
            <a:extLst>
              <a:ext uri="{FF2B5EF4-FFF2-40B4-BE49-F238E27FC236}">
                <a16:creationId xmlns:a16="http://schemas.microsoft.com/office/drawing/2014/main" id="{8A26D6EC-873B-6B5C-872A-2625FB480344}"/>
              </a:ext>
            </a:extLst>
          </p:cNvPr>
          <p:cNvSpPr>
            <a:spLocks noGrp="1"/>
          </p:cNvSpPr>
          <p:nvPr>
            <p:ph type="body" idx="1"/>
          </p:nvPr>
        </p:nvSpPr>
        <p:spPr/>
        <p:txBody>
          <a:bodyPr>
            <a:normAutofit fontScale="85000" lnSpcReduction="20000"/>
          </a:bodyPr>
          <a:lstStyle/>
          <a:p>
            <a:pPr marR="0" lvl="0" rtl="0"/>
            <a:r>
              <a:rPr lang="en-CA" b="1" i="0" u="none" strike="noStrike" kern="100" baseline="0">
                <a:solidFill>
                  <a:srgbClr val="0F4761"/>
                </a:solidFill>
                <a:latin typeface="Times New Roman" panose="02020603050405020304" pitchFamily="18" charset="0"/>
              </a:rPr>
              <a:t>Physical Relationships</a:t>
            </a:r>
          </a:p>
          <a:p>
            <a:pPr marR="0" lvl="1" rtl="0"/>
            <a:r>
              <a:rPr lang="en-US" b="0" i="0" u="none" strike="noStrike" kern="100" baseline="0">
                <a:solidFill>
                  <a:srgbClr val="0F4761"/>
                </a:solidFill>
                <a:latin typeface="Times New Roman" panose="02020603050405020304" pitchFamily="18" charset="0"/>
              </a:rPr>
              <a:t>The application identifies several fundamental geometric relationships</a:t>
            </a:r>
          </a:p>
          <a:p>
            <a:pPr marR="0" lvl="0" rtl="0"/>
            <a:r>
              <a:rPr lang="en-CA" b="1" i="0" u="none" strike="noStrike" kern="100" baseline="0">
                <a:solidFill>
                  <a:srgbClr val="0F4761"/>
                </a:solidFill>
                <a:latin typeface="Times New Roman" panose="02020603050405020304" pitchFamily="18" charset="0"/>
              </a:rPr>
              <a:t>Major Relationship Classes</a:t>
            </a:r>
          </a:p>
          <a:p>
            <a:pPr marR="0" lvl="1" rtl="0"/>
            <a:r>
              <a:rPr lang="en-CA" b="0" i="0" u="none" strike="noStrike" kern="100" baseline="0">
                <a:solidFill>
                  <a:srgbClr val="0F4761"/>
                </a:solidFill>
                <a:latin typeface="Times New Roman" panose="02020603050405020304" pitchFamily="18" charset="0"/>
              </a:rPr>
              <a:t>Equals</a:t>
            </a:r>
          </a:p>
          <a:p>
            <a:pPr marR="0" lvl="1" rtl="0"/>
            <a:r>
              <a:rPr lang="en-CA" b="0" i="0" u="none" strike="noStrike" kern="100" baseline="0">
                <a:solidFill>
                  <a:srgbClr val="0F4761"/>
                </a:solidFill>
                <a:latin typeface="Times New Roman" panose="02020603050405020304" pitchFamily="18" charset="0"/>
              </a:rPr>
              <a:t>Contains</a:t>
            </a:r>
          </a:p>
          <a:p>
            <a:pPr marR="0" lvl="1" rtl="0"/>
            <a:r>
              <a:rPr lang="en-CA" b="0" i="0" u="none" strike="noStrike" kern="100" baseline="0">
                <a:solidFill>
                  <a:srgbClr val="0F4761"/>
                </a:solidFill>
                <a:latin typeface="Times New Roman" panose="02020603050405020304" pitchFamily="18" charset="0"/>
              </a:rPr>
              <a:t>Partitions</a:t>
            </a:r>
          </a:p>
          <a:p>
            <a:pPr marR="0" lvl="1" rtl="0"/>
            <a:r>
              <a:rPr lang="en-CA" b="0" i="0" u="none" strike="noStrike" kern="100" baseline="0">
                <a:solidFill>
                  <a:srgbClr val="0F4761"/>
                </a:solidFill>
                <a:latin typeface="Times New Roman" panose="02020603050405020304" pitchFamily="18" charset="0"/>
              </a:rPr>
              <a:t>Confines</a:t>
            </a:r>
          </a:p>
          <a:p>
            <a:pPr marR="0" lvl="1" rtl="0"/>
            <a:r>
              <a:rPr lang="en-CA" b="0" i="0" u="none" strike="noStrike" kern="100" baseline="0">
                <a:solidFill>
                  <a:srgbClr val="0F4761"/>
                </a:solidFill>
                <a:latin typeface="Times New Roman" panose="02020603050405020304" pitchFamily="18" charset="0"/>
              </a:rPr>
              <a:t>Surrounds</a:t>
            </a:r>
          </a:p>
          <a:p>
            <a:pPr marR="0" lvl="1" rtl="0"/>
            <a:r>
              <a:rPr lang="en-CA" b="0" i="0" u="none" strike="noStrike" kern="100" baseline="0">
                <a:solidFill>
                  <a:srgbClr val="0F4761"/>
                </a:solidFill>
                <a:latin typeface="Times New Roman" panose="02020603050405020304" pitchFamily="18" charset="0"/>
              </a:rPr>
              <a:t>Shelters</a:t>
            </a:r>
          </a:p>
          <a:p>
            <a:pPr marR="0" lvl="1" rtl="0"/>
            <a:r>
              <a:rPr lang="en-CA" b="0" i="0" u="none" strike="noStrike" kern="100" baseline="0">
                <a:solidFill>
                  <a:srgbClr val="0F4761"/>
                </a:solidFill>
                <a:latin typeface="Times New Roman" panose="02020603050405020304" pitchFamily="18" charset="0"/>
              </a:rPr>
              <a:t>Overlaps</a:t>
            </a:r>
          </a:p>
          <a:p>
            <a:pPr marR="0" lvl="1" rtl="0"/>
            <a:r>
              <a:rPr lang="en-CA" b="0" i="0" u="none" strike="noStrike" kern="100" baseline="0">
                <a:solidFill>
                  <a:srgbClr val="0F4761"/>
                </a:solidFill>
                <a:latin typeface="Times New Roman" panose="02020603050405020304" pitchFamily="18" charset="0"/>
              </a:rPr>
              <a:t>Borders</a:t>
            </a:r>
          </a:p>
          <a:p>
            <a:pPr marR="0" lvl="1" rtl="0"/>
            <a:r>
              <a:rPr lang="en-CA" b="0" i="0" u="none" strike="noStrike" kern="100" baseline="0">
                <a:solidFill>
                  <a:srgbClr val="0F4761"/>
                </a:solidFill>
                <a:latin typeface="Times New Roman" panose="02020603050405020304" pitchFamily="18" charset="0"/>
              </a:rPr>
              <a:t>Disjoint</a:t>
            </a:r>
          </a:p>
          <a:p>
            <a:pPr marR="0" lvl="0" rtl="0"/>
            <a:r>
              <a:rPr lang="en-US" b="0" i="0" u="none" strike="noStrike" kern="100" baseline="0">
                <a:solidFill>
                  <a:srgbClr val="0F4761"/>
                </a:solidFill>
                <a:latin typeface="Times New Roman" panose="02020603050405020304" pitchFamily="18" charset="0"/>
              </a:rPr>
              <a:t>Each relationship corresponds to a precise geometric definition and supports specific metrics. </a:t>
            </a:r>
          </a:p>
        </p:txBody>
      </p:sp>
    </p:spTree>
    <p:extLst>
      <p:ext uri="{BB962C8B-B14F-4D97-AF65-F5344CB8AC3E}">
        <p14:creationId xmlns:p14="http://schemas.microsoft.com/office/powerpoint/2010/main" val="838856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92A97-0F0B-C5AC-A0D0-0F0548030E6C}"/>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Beyond DE-9IM</a:t>
            </a:r>
          </a:p>
        </p:txBody>
      </p:sp>
      <p:sp>
        <p:nvSpPr>
          <p:cNvPr id="3" name="Text Placeholder 2">
            <a:extLst>
              <a:ext uri="{FF2B5EF4-FFF2-40B4-BE49-F238E27FC236}">
                <a16:creationId xmlns:a16="http://schemas.microsoft.com/office/drawing/2014/main" id="{539A4E57-860F-B124-C19C-98E4159A6F5C}"/>
              </a:ext>
            </a:extLst>
          </p:cNvPr>
          <p:cNvSpPr>
            <a:spLocks noGrp="1"/>
          </p:cNvSpPr>
          <p:nvPr>
            <p:ph type="body" idx="1"/>
          </p:nvPr>
        </p:nvSpPr>
        <p:spPr/>
        <p:txBody>
          <a:bodyPr>
            <a:normAutofit fontScale="92500" lnSpcReduction="10000"/>
          </a:bodyPr>
          <a:lstStyle/>
          <a:p>
            <a:pPr marR="0" lvl="0" rtl="0"/>
            <a:r>
              <a:rPr lang="en-CA" b="1" i="0" u="none" strike="noStrike" kern="100" baseline="0">
                <a:solidFill>
                  <a:srgbClr val="0F4761"/>
                </a:solidFill>
                <a:latin typeface="Times New Roman" panose="02020603050405020304" pitchFamily="18" charset="0"/>
              </a:rPr>
              <a:t>DE-27IM Relationship Framework</a:t>
            </a:r>
          </a:p>
          <a:p>
            <a:pPr marR="0" lvl="1" rtl="0"/>
            <a:r>
              <a:rPr lang="en-US" b="0" i="0" u="none" strike="noStrike" kern="100" baseline="0">
                <a:solidFill>
                  <a:srgbClr val="0F4761"/>
                </a:solidFill>
                <a:latin typeface="Times New Roman" panose="02020603050405020304" pitchFamily="18" charset="0"/>
              </a:rPr>
              <a:t>Standard DE-9IM topology cannot distinguish some clinically meaningful cases.</a:t>
            </a:r>
          </a:p>
          <a:p>
            <a:pPr marR="0" lvl="1" rtl="0"/>
            <a:r>
              <a:rPr lang="en-CA" b="0" i="0" u="none" strike="noStrike" kern="100" baseline="0">
                <a:solidFill>
                  <a:srgbClr val="0F4761"/>
                </a:solidFill>
                <a:latin typeface="Times New Roman" panose="02020603050405020304" pitchFamily="18" charset="0"/>
              </a:rPr>
              <a:t>Example:</a:t>
            </a:r>
          </a:p>
          <a:p>
            <a:pPr marR="0" lvl="1" rtl="0"/>
            <a:r>
              <a:rPr lang="en-US" b="0" i="0" u="none" strike="noStrike" kern="100" baseline="0">
                <a:solidFill>
                  <a:srgbClr val="0F4761"/>
                </a:solidFill>
                <a:latin typeface="Times New Roman" panose="02020603050405020304" pitchFamily="18" charset="0"/>
              </a:rPr>
              <a:t>A structure completely inside a hole in another structure is classified as disjoint.</a:t>
            </a:r>
          </a:p>
          <a:p>
            <a:pPr marR="0" lvl="1" rtl="0"/>
            <a:r>
              <a:rPr lang="en-US" b="0" i="0" u="none" strike="noStrike" kern="100" baseline="0">
                <a:solidFill>
                  <a:srgbClr val="0F4761"/>
                </a:solidFill>
                <a:latin typeface="Times New Roman" panose="02020603050405020304" pitchFamily="18" charset="0"/>
              </a:rPr>
              <a:t>Structure Relations extends this using a DE-27IM framework that combines:</a:t>
            </a:r>
          </a:p>
          <a:p>
            <a:pPr marR="0" lvl="2" rtl="0"/>
            <a:r>
              <a:rPr lang="en-CA" b="0" i="1" u="none" strike="noStrike" kern="100" baseline="0">
                <a:solidFill>
                  <a:srgbClr val="0F4761"/>
                </a:solidFill>
                <a:latin typeface="Times New Roman" panose="02020603050405020304" pitchFamily="18" charset="0"/>
              </a:rPr>
              <a:t>Structure relationship</a:t>
            </a:r>
          </a:p>
          <a:p>
            <a:pPr marR="0" lvl="2" rtl="0"/>
            <a:r>
              <a:rPr lang="en-CA" b="0" i="1" u="none" strike="noStrike" kern="100" baseline="0">
                <a:solidFill>
                  <a:srgbClr val="0F4761"/>
                </a:solidFill>
                <a:latin typeface="Times New Roman" panose="02020603050405020304" pitchFamily="18" charset="0"/>
              </a:rPr>
              <a:t>Exterior relationship</a:t>
            </a:r>
          </a:p>
          <a:p>
            <a:pPr marR="0" lvl="2" rtl="0"/>
            <a:r>
              <a:rPr lang="en-CA" b="0" i="1" u="none" strike="noStrike" kern="100" baseline="0">
                <a:solidFill>
                  <a:srgbClr val="0F4761"/>
                </a:solidFill>
                <a:latin typeface="Times New Roman" panose="02020603050405020304" pitchFamily="18" charset="0"/>
              </a:rPr>
              <a:t>Convex hull relationship</a:t>
            </a:r>
          </a:p>
          <a:p>
            <a:pPr marR="0" lvl="1" rtl="0"/>
            <a:r>
              <a:rPr lang="en-US" b="0" i="0" u="none" strike="noStrike" kern="100" baseline="0">
                <a:solidFill>
                  <a:srgbClr val="0F4761"/>
                </a:solidFill>
                <a:latin typeface="Times New Roman" panose="02020603050405020304" pitchFamily="18" charset="0"/>
              </a:rPr>
              <a:t>This enables clinically meaningful concepts such as:</a:t>
            </a:r>
          </a:p>
          <a:p>
            <a:pPr marR="0" lvl="2" rtl="0"/>
            <a:r>
              <a:rPr lang="en-CA" b="0" i="1" u="none" strike="noStrike" kern="100" baseline="0">
                <a:solidFill>
                  <a:srgbClr val="0F4761"/>
                </a:solidFill>
                <a:latin typeface="Times New Roman" panose="02020603050405020304" pitchFamily="18" charset="0"/>
              </a:rPr>
              <a:t>Surrounds</a:t>
            </a:r>
          </a:p>
          <a:p>
            <a:pPr marR="0" lvl="2" rtl="0"/>
            <a:r>
              <a:rPr lang="en-CA" b="0" i="1" u="none" strike="noStrike" kern="100" baseline="0">
                <a:solidFill>
                  <a:srgbClr val="0F4761"/>
                </a:solidFill>
                <a:latin typeface="Times New Roman" panose="02020603050405020304" pitchFamily="18" charset="0"/>
              </a:rPr>
              <a:t>Shelters</a:t>
            </a:r>
          </a:p>
          <a:p>
            <a:pPr marR="0" lvl="2" rtl="0"/>
            <a:r>
              <a:rPr lang="en-CA" b="0" i="1" u="none" strike="noStrike" kern="100" baseline="0">
                <a:solidFill>
                  <a:srgbClr val="0F4761"/>
                </a:solidFill>
                <a:latin typeface="Times New Roman" panose="02020603050405020304" pitchFamily="18" charset="0"/>
              </a:rPr>
              <a:t>Confines</a:t>
            </a:r>
          </a:p>
          <a:p>
            <a:pPr marR="0" lvl="1" rtl="0"/>
            <a:r>
              <a:rPr lang="en-US" b="0" i="0" u="none" strike="noStrike" kern="100" baseline="0">
                <a:solidFill>
                  <a:srgbClr val="0F4761"/>
                </a:solidFill>
                <a:latin typeface="Times New Roman" panose="02020603050405020304" pitchFamily="18" charset="0"/>
              </a:rPr>
              <a:t>that would otherwise be lost</a:t>
            </a:r>
          </a:p>
        </p:txBody>
      </p:sp>
    </p:spTree>
    <p:extLst>
      <p:ext uri="{BB962C8B-B14F-4D97-AF65-F5344CB8AC3E}">
        <p14:creationId xmlns:p14="http://schemas.microsoft.com/office/powerpoint/2010/main" val="3444594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8407-A655-A6CD-431A-8250B9859C8F}"/>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Logical Relationships</a:t>
            </a:r>
          </a:p>
        </p:txBody>
      </p:sp>
      <p:sp>
        <p:nvSpPr>
          <p:cNvPr id="3" name="Text Placeholder 2">
            <a:extLst>
              <a:ext uri="{FF2B5EF4-FFF2-40B4-BE49-F238E27FC236}">
                <a16:creationId xmlns:a16="http://schemas.microsoft.com/office/drawing/2014/main" id="{2F242553-877C-61E8-5C8E-4E5300B5A806}"/>
              </a:ext>
            </a:extLst>
          </p:cNvPr>
          <p:cNvSpPr>
            <a:spLocks noGrp="1"/>
          </p:cNvSpPr>
          <p:nvPr>
            <p:ph type="body" idx="1"/>
          </p:nvPr>
        </p:nvSpPr>
        <p:spPr/>
        <p:txBody>
          <a:bodyPr>
            <a:normAutofit fontScale="85000" lnSpcReduction="20000"/>
          </a:bodyPr>
          <a:lstStyle/>
          <a:p>
            <a:pPr marR="0" lvl="0" rtl="0"/>
            <a:r>
              <a:rPr lang="en-CA" b="1" i="0" u="none" strike="noStrike" kern="100" baseline="0">
                <a:solidFill>
                  <a:srgbClr val="0F4761"/>
                </a:solidFill>
                <a:latin typeface="Times New Roman" panose="02020603050405020304" pitchFamily="18" charset="0"/>
              </a:rPr>
              <a:t>Removing Diagram Clutter</a:t>
            </a:r>
          </a:p>
          <a:p>
            <a:pPr marR="0" lvl="1" rtl="0"/>
            <a:r>
              <a:rPr lang="en-US" b="0" i="0" u="none" strike="noStrike" kern="100" baseline="0">
                <a:solidFill>
                  <a:srgbClr val="0F4761"/>
                </a:solidFill>
                <a:latin typeface="Times New Roman" panose="02020603050405020304" pitchFamily="18" charset="0"/>
              </a:rPr>
              <a:t>Many relationships are implied by other relationships.</a:t>
            </a:r>
          </a:p>
          <a:p>
            <a:pPr marR="0" lvl="0" rtl="0"/>
            <a:r>
              <a:rPr lang="en-CA" b="1" i="0" u="none" strike="noStrike" kern="100" baseline="0">
                <a:solidFill>
                  <a:srgbClr val="0F4761"/>
                </a:solidFill>
                <a:latin typeface="Times New Roman" panose="02020603050405020304" pitchFamily="18" charset="0"/>
              </a:rPr>
              <a:t>Example</a:t>
            </a:r>
          </a:p>
          <a:p>
            <a:pPr marR="0" lvl="1" rtl="0"/>
            <a:r>
              <a:rPr lang="en-CA" b="0" i="0" u="none" strike="noStrike" kern="100" baseline="0">
                <a:solidFill>
                  <a:srgbClr val="0F4761"/>
                </a:solidFill>
                <a:latin typeface="Times New Roman" panose="02020603050405020304" pitchFamily="18" charset="0"/>
              </a:rPr>
              <a:t>If</a:t>
            </a:r>
          </a:p>
          <a:p>
            <a:pPr marR="0" lvl="1" rtl="0"/>
            <a:r>
              <a:rPr lang="en-CA" b="0" i="0" u="none" strike="noStrike" kern="100" baseline="0">
                <a:solidFill>
                  <a:srgbClr val="0F4761"/>
                </a:solidFill>
                <a:latin typeface="Times New Roman" panose="02020603050405020304" pitchFamily="18" charset="0"/>
              </a:rPr>
              <a:t>PTV contains CTV</a:t>
            </a:r>
          </a:p>
          <a:p>
            <a:pPr marR="0" lvl="1" rtl="0"/>
            <a:r>
              <a:rPr lang="en-CA" b="0" i="0" u="none" strike="noStrike" kern="100" baseline="0">
                <a:solidFill>
                  <a:srgbClr val="0F4761"/>
                </a:solidFill>
                <a:latin typeface="Times New Roman" panose="02020603050405020304" pitchFamily="18" charset="0"/>
              </a:rPr>
              <a:t>and</a:t>
            </a:r>
          </a:p>
          <a:p>
            <a:pPr marR="0" lvl="1" rtl="0"/>
            <a:r>
              <a:rPr lang="en-CA" b="0" i="0" u="none" strike="noStrike" kern="100" baseline="0">
                <a:solidFill>
                  <a:srgbClr val="0F4761"/>
                </a:solidFill>
                <a:latin typeface="Times New Roman" panose="02020603050405020304" pitchFamily="18" charset="0"/>
              </a:rPr>
              <a:t>CTV contains GTV</a:t>
            </a:r>
          </a:p>
          <a:p>
            <a:pPr marR="0" lvl="1" rtl="0"/>
            <a:r>
              <a:rPr lang="en-CA" b="0" i="0" u="none" strike="noStrike" kern="100" baseline="0">
                <a:solidFill>
                  <a:srgbClr val="0F4761"/>
                </a:solidFill>
                <a:latin typeface="Times New Roman" panose="02020603050405020304" pitchFamily="18" charset="0"/>
              </a:rPr>
              <a:t>then</a:t>
            </a:r>
          </a:p>
          <a:p>
            <a:pPr marR="0" lvl="1" rtl="0"/>
            <a:r>
              <a:rPr lang="en-CA" b="0" i="0" u="none" strike="noStrike" kern="100" baseline="0">
                <a:solidFill>
                  <a:srgbClr val="0F4761"/>
                </a:solidFill>
                <a:latin typeface="Times New Roman" panose="02020603050405020304" pitchFamily="18" charset="0"/>
              </a:rPr>
              <a:t>PTV contains GTV</a:t>
            </a:r>
          </a:p>
          <a:p>
            <a:pPr marR="0" lvl="1" rtl="0"/>
            <a:r>
              <a:rPr lang="en-CA" b="0" i="0" u="none" strike="noStrike" kern="100" baseline="0">
                <a:solidFill>
                  <a:srgbClr val="0F4761"/>
                </a:solidFill>
                <a:latin typeface="Times New Roman" panose="02020603050405020304" pitchFamily="18" charset="0"/>
              </a:rPr>
              <a:t>is guaranteed.</a:t>
            </a:r>
          </a:p>
          <a:p>
            <a:pPr marR="0" lvl="1" rtl="0"/>
            <a:r>
              <a:rPr lang="en-US" b="0" i="0" u="none" strike="noStrike" kern="100" baseline="0">
                <a:solidFill>
                  <a:srgbClr val="0F4761"/>
                </a:solidFill>
                <a:latin typeface="Times New Roman" panose="02020603050405020304" pitchFamily="18" charset="0"/>
              </a:rPr>
              <a:t>This is a Logical Relationship. </a:t>
            </a:r>
          </a:p>
          <a:p>
            <a:pPr marR="0" lvl="0" rtl="0"/>
            <a:r>
              <a:rPr lang="en-CA" b="1" i="0" u="none" strike="noStrike" kern="100" baseline="0">
                <a:solidFill>
                  <a:srgbClr val="0F4761"/>
                </a:solidFill>
                <a:latin typeface="Times New Roman" panose="02020603050405020304" pitchFamily="18" charset="0"/>
              </a:rPr>
              <a:t>Benefit</a:t>
            </a:r>
          </a:p>
          <a:p>
            <a:pPr marR="0" lvl="1" rtl="0"/>
            <a:r>
              <a:rPr lang="en-US" b="0" i="0" u="none" strike="noStrike" kern="100" baseline="0">
                <a:solidFill>
                  <a:srgbClr val="0F4761"/>
                </a:solidFill>
                <a:latin typeface="Times New Roman" panose="02020603050405020304" pitchFamily="18" charset="0"/>
              </a:rPr>
              <a:t>Logical relationships are hidden by default, so diagrams emphasize direct and clinically relevant relationships rather than redundant information. </a:t>
            </a:r>
          </a:p>
        </p:txBody>
      </p:sp>
    </p:spTree>
    <p:extLst>
      <p:ext uri="{BB962C8B-B14F-4D97-AF65-F5344CB8AC3E}">
        <p14:creationId xmlns:p14="http://schemas.microsoft.com/office/powerpoint/2010/main" val="3245864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7BD1B-1F28-5C6F-2FAC-9A3BA2515088}"/>
              </a:ext>
            </a:extLst>
          </p:cNvPr>
          <p:cNvSpPr>
            <a:spLocks noGrp="1"/>
          </p:cNvSpPr>
          <p:nvPr>
            <p:ph type="title"/>
          </p:nvPr>
        </p:nvSpPr>
        <p:spPr/>
        <p:txBody>
          <a:bodyPr/>
          <a:lstStyle/>
          <a:p>
            <a:pPr marR="0" rtl="0"/>
            <a:r>
              <a:rPr lang="en-US" b="1" i="0" u="none" strike="noStrike" kern="100" baseline="0" dirty="0">
                <a:solidFill>
                  <a:srgbClr val="0F4761"/>
                </a:solidFill>
                <a:latin typeface="Times New Roman" panose="02020603050405020304" pitchFamily="18" charset="0"/>
              </a:rPr>
              <a:t>Relationship Logic Engine</a:t>
            </a:r>
          </a:p>
        </p:txBody>
      </p:sp>
      <p:sp>
        <p:nvSpPr>
          <p:cNvPr id="3" name="Text Placeholder 2">
            <a:extLst>
              <a:ext uri="{FF2B5EF4-FFF2-40B4-BE49-F238E27FC236}">
                <a16:creationId xmlns:a16="http://schemas.microsoft.com/office/drawing/2014/main" id="{3F743935-8AC0-EDB9-EFB9-4D191EF2C29F}"/>
              </a:ext>
            </a:extLst>
          </p:cNvPr>
          <p:cNvSpPr>
            <a:spLocks noGrp="1"/>
          </p:cNvSpPr>
          <p:nvPr>
            <p:ph type="body" idx="1"/>
          </p:nvPr>
        </p:nvSpPr>
        <p:spPr/>
        <p:txBody>
          <a:bodyPr/>
          <a:lstStyle/>
          <a:p>
            <a:pPr marR="0" lvl="0" rtl="0"/>
            <a:r>
              <a:rPr lang="en-CA" b="1" i="0" u="none" strike="noStrike" kern="100" baseline="0">
                <a:solidFill>
                  <a:srgbClr val="0F4761"/>
                </a:solidFill>
                <a:latin typeface="Times New Roman" panose="02020603050405020304" pitchFamily="18" charset="0"/>
              </a:rPr>
              <a:t>Graph-Based Relationship Analysis</a:t>
            </a:r>
          </a:p>
          <a:p>
            <a:pPr marR="0" lvl="1" rtl="0"/>
            <a:r>
              <a:rPr lang="en-CA" b="0" i="0" u="none" strike="noStrike" kern="100" baseline="0">
                <a:solidFill>
                  <a:srgbClr val="0F4761"/>
                </a:solidFill>
                <a:latin typeface="Times New Roman" panose="02020603050405020304" pitchFamily="18" charset="0"/>
              </a:rPr>
              <a:t>To identify logical relationships:</a:t>
            </a:r>
          </a:p>
          <a:p>
            <a:pPr marR="0" lvl="2" rtl="0"/>
            <a:r>
              <a:rPr lang="en-CA" b="0" i="1" u="none" strike="noStrike" kern="100" baseline="0">
                <a:solidFill>
                  <a:srgbClr val="0F4761"/>
                </a:solidFill>
                <a:latin typeface="Times New Roman" panose="02020603050405020304" pitchFamily="18" charset="0"/>
              </a:rPr>
              <a:t>Build a directed graph.</a:t>
            </a:r>
          </a:p>
          <a:p>
            <a:pPr marR="0" lvl="2" rtl="0"/>
            <a:r>
              <a:rPr lang="en-CA" b="0" i="1" u="none" strike="noStrike" kern="100" baseline="0">
                <a:solidFill>
                  <a:srgbClr val="0F4761"/>
                </a:solidFill>
                <a:latin typeface="Times New Roman" panose="02020603050405020304" pitchFamily="18" charset="0"/>
              </a:rPr>
              <a:t>Add explicit relationships.</a:t>
            </a:r>
          </a:p>
          <a:p>
            <a:pPr marR="0" lvl="2" rtl="0"/>
            <a:r>
              <a:rPr lang="en-CA" b="0" i="1" u="none" strike="noStrike" kern="100" baseline="0">
                <a:solidFill>
                  <a:srgbClr val="0F4761"/>
                </a:solidFill>
                <a:latin typeface="Times New Roman" panose="02020603050405020304" pitchFamily="18" charset="0"/>
              </a:rPr>
              <a:t>Add implied relationships.</a:t>
            </a:r>
          </a:p>
          <a:p>
            <a:pPr marR="0" lvl="2" rtl="0"/>
            <a:r>
              <a:rPr lang="en-CA" b="0" i="1" u="none" strike="noStrike" kern="100" baseline="0">
                <a:solidFill>
                  <a:srgbClr val="0F4761"/>
                </a:solidFill>
                <a:latin typeface="Times New Roman" panose="02020603050405020304" pitchFamily="18" charset="0"/>
              </a:rPr>
              <a:t>Search for alternate paths.</a:t>
            </a:r>
          </a:p>
          <a:p>
            <a:pPr marR="0" lvl="2" rtl="0"/>
            <a:r>
              <a:rPr lang="en-US" b="0" i="1" u="none" strike="noStrike" kern="100" baseline="0">
                <a:solidFill>
                  <a:srgbClr val="0F4761"/>
                </a:solidFill>
                <a:latin typeface="Times New Roman" panose="02020603050405020304" pitchFamily="18" charset="0"/>
              </a:rPr>
              <a:t>Classify redundant edges as logical.</a:t>
            </a:r>
          </a:p>
          <a:p>
            <a:pPr marR="0" lvl="1" rtl="0"/>
            <a:r>
              <a:rPr lang="en-US" b="0" i="0" u="none" strike="noStrike" kern="100" baseline="0">
                <a:solidFill>
                  <a:srgbClr val="0F4761"/>
                </a:solidFill>
                <a:latin typeface="Times New Roman" panose="02020603050405020304" pitchFamily="18" charset="0"/>
              </a:rPr>
              <a:t>This approach allows complex structure sets to be visualized clearly even when hundreds of pairwise relationships exist. </a:t>
            </a:r>
          </a:p>
        </p:txBody>
      </p:sp>
    </p:spTree>
    <p:extLst>
      <p:ext uri="{BB962C8B-B14F-4D97-AF65-F5344CB8AC3E}">
        <p14:creationId xmlns:p14="http://schemas.microsoft.com/office/powerpoint/2010/main" val="2874006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5E62-F051-A54F-1571-829BD7C3C4CD}"/>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Current Outputs</a:t>
            </a:r>
          </a:p>
        </p:txBody>
      </p:sp>
      <p:sp>
        <p:nvSpPr>
          <p:cNvPr id="3" name="Text Placeholder 2">
            <a:extLst>
              <a:ext uri="{FF2B5EF4-FFF2-40B4-BE49-F238E27FC236}">
                <a16:creationId xmlns:a16="http://schemas.microsoft.com/office/drawing/2014/main" id="{EBD661C4-7768-369B-FB2A-C47131D1E241}"/>
              </a:ext>
            </a:extLst>
          </p:cNvPr>
          <p:cNvSpPr>
            <a:spLocks noGrp="1"/>
          </p:cNvSpPr>
          <p:nvPr>
            <p:ph type="body" idx="1"/>
          </p:nvPr>
        </p:nvSpPr>
        <p:spPr/>
        <p:txBody>
          <a:bodyPr>
            <a:normAutofit fontScale="85000" lnSpcReduction="20000"/>
          </a:bodyPr>
          <a:lstStyle/>
          <a:p>
            <a:pPr marR="0" lvl="0" rtl="0"/>
            <a:r>
              <a:rPr lang="en-CA" b="1" i="0" u="none" strike="noStrike" kern="100" baseline="0">
                <a:solidFill>
                  <a:srgbClr val="0F4761"/>
                </a:solidFill>
                <a:latin typeface="Times New Roman" panose="02020603050405020304" pitchFamily="18" charset="0"/>
              </a:rPr>
              <a:t>Existing Deliverables</a:t>
            </a:r>
          </a:p>
          <a:p>
            <a:pPr marR="0" lvl="0" rtl="0"/>
            <a:r>
              <a:rPr lang="en-CA" b="1" i="0" u="none" strike="noStrike" kern="100" baseline="0">
                <a:solidFill>
                  <a:srgbClr val="0F4761"/>
                </a:solidFill>
                <a:latin typeface="Times New Roman" panose="02020603050405020304" pitchFamily="18" charset="0"/>
              </a:rPr>
              <a:t>Relationship Diagram</a:t>
            </a:r>
          </a:p>
          <a:p>
            <a:pPr marR="0" lvl="1" rtl="0"/>
            <a:r>
              <a:rPr lang="en-US" b="0" i="0" u="none" strike="noStrike" kern="100" baseline="0">
                <a:solidFill>
                  <a:srgbClr val="0F4761"/>
                </a:solidFill>
                <a:latin typeface="Times New Roman" panose="02020603050405020304" pitchFamily="18" charset="0"/>
              </a:rPr>
              <a:t>Visual network of contour relationships.</a:t>
            </a:r>
          </a:p>
          <a:p>
            <a:pPr marR="0" lvl="0" rtl="0"/>
            <a:r>
              <a:rPr lang="en-CA" b="1" i="0" u="none" strike="noStrike" kern="100" baseline="0">
                <a:solidFill>
                  <a:srgbClr val="0F4761"/>
                </a:solidFill>
                <a:latin typeface="Times New Roman" panose="02020603050405020304" pitchFamily="18" charset="0"/>
              </a:rPr>
              <a:t>Relationship Matrix</a:t>
            </a:r>
          </a:p>
          <a:p>
            <a:pPr marR="0" lvl="1" rtl="0"/>
            <a:r>
              <a:rPr lang="en-CA" b="0" i="0" u="none" strike="noStrike" kern="100" baseline="0">
                <a:solidFill>
                  <a:srgbClr val="0F4761"/>
                </a:solidFill>
                <a:latin typeface="Times New Roman" panose="02020603050405020304" pitchFamily="18" charset="0"/>
              </a:rPr>
              <a:t>Complete pairwise relationship table.</a:t>
            </a:r>
          </a:p>
          <a:p>
            <a:pPr marR="0" lvl="0" rtl="0"/>
            <a:r>
              <a:rPr lang="en-CA" b="1" i="0" u="none" strike="noStrike" kern="100" baseline="0">
                <a:solidFill>
                  <a:srgbClr val="0F4761"/>
                </a:solidFill>
                <a:latin typeface="Times New Roman" panose="02020603050405020304" pitchFamily="18" charset="0"/>
              </a:rPr>
              <a:t>Metrics Display</a:t>
            </a:r>
          </a:p>
          <a:p>
            <a:pPr marR="0" lvl="1" rtl="0"/>
            <a:r>
              <a:rPr lang="en-CA" b="0" i="0" u="none" strike="noStrike" kern="100" baseline="0">
                <a:solidFill>
                  <a:srgbClr val="0F4761"/>
                </a:solidFill>
                <a:latin typeface="Times New Roman" panose="02020603050405020304" pitchFamily="18" charset="0"/>
              </a:rPr>
              <a:t>Margins</a:t>
            </a:r>
          </a:p>
          <a:p>
            <a:pPr marR="0" lvl="1" rtl="0"/>
            <a:r>
              <a:rPr lang="en-CA" b="0" i="0" u="none" strike="noStrike" kern="100" baseline="0">
                <a:solidFill>
                  <a:srgbClr val="0F4761"/>
                </a:solidFill>
                <a:latin typeface="Times New Roman" panose="02020603050405020304" pitchFamily="18" charset="0"/>
              </a:rPr>
              <a:t>Distances</a:t>
            </a:r>
          </a:p>
          <a:p>
            <a:pPr marR="0" lvl="1" rtl="0"/>
            <a:r>
              <a:rPr lang="en-CA" b="0" i="0" u="none" strike="noStrike" kern="100" baseline="0">
                <a:solidFill>
                  <a:srgbClr val="0F4761"/>
                </a:solidFill>
                <a:latin typeface="Times New Roman" panose="02020603050405020304" pitchFamily="18" charset="0"/>
              </a:rPr>
              <a:t>Overlap volumes</a:t>
            </a:r>
          </a:p>
          <a:p>
            <a:pPr marR="0" lvl="1" rtl="0"/>
            <a:r>
              <a:rPr lang="en-CA" b="0" i="0" u="none" strike="noStrike" kern="100" baseline="0">
                <a:solidFill>
                  <a:srgbClr val="0F4761"/>
                </a:solidFill>
                <a:latin typeface="Times New Roman" panose="02020603050405020304" pitchFamily="18" charset="0"/>
              </a:rPr>
              <a:t>Relative volumes</a:t>
            </a:r>
          </a:p>
          <a:p>
            <a:pPr marR="0" lvl="0" rtl="0"/>
            <a:r>
              <a:rPr lang="en-CA" b="1" i="0" u="none" strike="noStrike" kern="100" baseline="0">
                <a:solidFill>
                  <a:srgbClr val="0F4761"/>
                </a:solidFill>
                <a:latin typeface="Times New Roman" panose="02020603050405020304" pitchFamily="18" charset="0"/>
              </a:rPr>
              <a:t>Slice-Based Comparisons</a:t>
            </a:r>
          </a:p>
          <a:p>
            <a:pPr marR="0" lvl="1" rtl="0"/>
            <a:r>
              <a:rPr lang="en-CA" b="0" i="0" u="none" strike="noStrike" kern="100" baseline="0">
                <a:solidFill>
                  <a:srgbClr val="0F4761"/>
                </a:solidFill>
                <a:latin typeface="Times New Roman" panose="02020603050405020304" pitchFamily="18" charset="0"/>
              </a:rPr>
              <a:t>Detailed contour investigation tools.</a:t>
            </a:r>
          </a:p>
          <a:p>
            <a:pPr marR="0" lvl="1" rtl="0"/>
            <a:r>
              <a:rPr lang="en-CA" b="0" i="1" u="none" strike="noStrike" kern="100" baseline="0">
                <a:solidFill>
                  <a:srgbClr val="0F4761"/>
                </a:solidFill>
                <a:latin typeface="Times New Roman" panose="02020603050405020304" pitchFamily="18" charset="0"/>
              </a:rPr>
              <a:t>(Insert application screenshots here.)</a:t>
            </a:r>
            <a:endParaRPr lang="en-CA" b="0" i="0" u="none" strike="noStrike" kern="100" baseline="0">
              <a:solidFill>
                <a:srgbClr val="0F4761"/>
              </a:solidFill>
              <a:latin typeface="Times New Roman" panose="02020603050405020304" pitchFamily="18" charset="0"/>
            </a:endParaRPr>
          </a:p>
        </p:txBody>
      </p:sp>
    </p:spTree>
    <p:extLst>
      <p:ext uri="{BB962C8B-B14F-4D97-AF65-F5344CB8AC3E}">
        <p14:creationId xmlns:p14="http://schemas.microsoft.com/office/powerpoint/2010/main" val="3415274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8B9A-B44D-05B4-5B76-C9A7A3CA190F}"/>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Architecture Overview</a:t>
            </a:r>
          </a:p>
        </p:txBody>
      </p:sp>
      <p:sp>
        <p:nvSpPr>
          <p:cNvPr id="3" name="Text Placeholder 2">
            <a:extLst>
              <a:ext uri="{FF2B5EF4-FFF2-40B4-BE49-F238E27FC236}">
                <a16:creationId xmlns:a16="http://schemas.microsoft.com/office/drawing/2014/main" id="{4F7A3B4A-20F4-2E3E-4E3C-DF431E7BD0CE}"/>
              </a:ext>
            </a:extLst>
          </p:cNvPr>
          <p:cNvSpPr>
            <a:spLocks noGrp="1"/>
          </p:cNvSpPr>
          <p:nvPr>
            <p:ph type="body" idx="1"/>
          </p:nvPr>
        </p:nvSpPr>
        <p:spPr/>
        <p:txBody>
          <a:bodyPr>
            <a:normAutofit fontScale="70000" lnSpcReduction="20000"/>
          </a:bodyPr>
          <a:lstStyle/>
          <a:p>
            <a:pPr marR="0" lvl="0" rtl="0"/>
            <a:r>
              <a:rPr lang="en-CA" b="1" i="0" u="none" strike="noStrike" kern="100" baseline="0">
                <a:solidFill>
                  <a:srgbClr val="0F4761"/>
                </a:solidFill>
                <a:latin typeface="Times New Roman" panose="02020603050405020304" pitchFamily="18" charset="0"/>
              </a:rPr>
              <a:t>Algorithm Design</a:t>
            </a:r>
          </a:p>
          <a:p>
            <a:pPr marR="0" lvl="0" rtl="0"/>
            <a:r>
              <a:rPr lang="en-CA" b="1" i="0" u="none" strike="noStrike" kern="100" baseline="0">
                <a:solidFill>
                  <a:srgbClr val="0F4761"/>
                </a:solidFill>
                <a:latin typeface="Times New Roman" panose="02020603050405020304" pitchFamily="18" charset="0"/>
              </a:rPr>
              <a:t>Geometry Analysis</a:t>
            </a:r>
          </a:p>
          <a:p>
            <a:pPr marR="0" lvl="1" rtl="0"/>
            <a:r>
              <a:rPr lang="en-CA" b="0" i="0" u="none" strike="noStrike" kern="100" baseline="0">
                <a:solidFill>
                  <a:srgbClr val="0F4761"/>
                </a:solidFill>
                <a:latin typeface="Times New Roman" panose="02020603050405020304" pitchFamily="18" charset="0"/>
              </a:rPr>
              <a:t>Slice-by-slice processing</a:t>
            </a:r>
          </a:p>
          <a:p>
            <a:pPr marR="0" lvl="1" rtl="0"/>
            <a:r>
              <a:rPr lang="en-CA" b="0" i="0" u="none" strike="noStrike" kern="100" baseline="0">
                <a:solidFill>
                  <a:srgbClr val="0F4761"/>
                </a:solidFill>
                <a:latin typeface="Times New Roman" panose="02020603050405020304" pitchFamily="18" charset="0"/>
              </a:rPr>
              <a:t>3D corrections and aggregation</a:t>
            </a:r>
          </a:p>
          <a:p>
            <a:pPr marR="0" lvl="1" rtl="0"/>
            <a:r>
              <a:rPr lang="en-CA" b="0" i="0" u="none" strike="noStrike" kern="100" baseline="0">
                <a:solidFill>
                  <a:srgbClr val="0F4761"/>
                </a:solidFill>
                <a:latin typeface="Times New Roman" panose="02020603050405020304" pitchFamily="18" charset="0"/>
              </a:rPr>
              <a:t>Topological classification</a:t>
            </a:r>
          </a:p>
          <a:p>
            <a:pPr marR="0" lvl="1" rtl="0"/>
            <a:r>
              <a:rPr lang="en-CA" b="0" i="0" u="none" strike="noStrike" kern="100" baseline="0">
                <a:solidFill>
                  <a:srgbClr val="0F4761"/>
                </a:solidFill>
                <a:latin typeface="Times New Roman" panose="02020603050405020304" pitchFamily="18" charset="0"/>
              </a:rPr>
              <a:t>Metric calculation</a:t>
            </a:r>
          </a:p>
          <a:p>
            <a:pPr marR="0" lvl="0" rtl="0"/>
            <a:r>
              <a:rPr lang="en-CA" b="1" i="0" u="none" strike="noStrike" kern="100" baseline="0">
                <a:solidFill>
                  <a:srgbClr val="0F4761"/>
                </a:solidFill>
                <a:latin typeface="Times New Roman" panose="02020603050405020304" pitchFamily="18" charset="0"/>
              </a:rPr>
              <a:t>Relationship Engine</a:t>
            </a:r>
          </a:p>
          <a:p>
            <a:pPr marR="0" lvl="1" rtl="0"/>
            <a:r>
              <a:rPr lang="en-CA" b="0" i="0" u="none" strike="noStrike" kern="100" baseline="0">
                <a:solidFill>
                  <a:srgbClr val="0F4761"/>
                </a:solidFill>
                <a:latin typeface="Times New Roman" panose="02020603050405020304" pitchFamily="18" charset="0"/>
              </a:rPr>
              <a:t>DE-27IM model</a:t>
            </a:r>
          </a:p>
          <a:p>
            <a:pPr marR="0" lvl="1" rtl="0"/>
            <a:r>
              <a:rPr lang="en-CA" b="0" i="0" u="none" strike="noStrike" kern="100" baseline="0">
                <a:solidFill>
                  <a:srgbClr val="0F4761"/>
                </a:solidFill>
                <a:latin typeface="Times New Roman" panose="02020603050405020304" pitchFamily="18" charset="0"/>
              </a:rPr>
              <a:t>Relationship classification</a:t>
            </a:r>
          </a:p>
          <a:p>
            <a:pPr marR="0" lvl="1" rtl="0"/>
            <a:r>
              <a:rPr lang="en-CA" b="0" i="0" u="none" strike="noStrike" kern="100" baseline="0">
                <a:solidFill>
                  <a:srgbClr val="0F4761"/>
                </a:solidFill>
                <a:latin typeface="Times New Roman" panose="02020603050405020304" pitchFamily="18" charset="0"/>
              </a:rPr>
              <a:t>Logical relationship detection</a:t>
            </a:r>
          </a:p>
          <a:p>
            <a:pPr marR="0" lvl="1" rtl="0"/>
            <a:r>
              <a:rPr lang="en-CA" b="0" i="0" u="none" strike="noStrike" kern="100" baseline="0">
                <a:solidFill>
                  <a:srgbClr val="0F4761"/>
                </a:solidFill>
                <a:latin typeface="Times New Roman" panose="02020603050405020304" pitchFamily="18" charset="0"/>
              </a:rPr>
              <a:t>Graph simplification</a:t>
            </a:r>
          </a:p>
          <a:p>
            <a:pPr marR="0" lvl="0" rtl="0"/>
            <a:r>
              <a:rPr lang="en-CA" b="1" i="0" u="none" strike="noStrike" kern="100" baseline="0">
                <a:solidFill>
                  <a:srgbClr val="0F4761"/>
                </a:solidFill>
                <a:latin typeface="Times New Roman" panose="02020603050405020304" pitchFamily="18" charset="0"/>
              </a:rPr>
              <a:t>Output Layer</a:t>
            </a:r>
          </a:p>
          <a:p>
            <a:pPr marR="0" lvl="1" rtl="0"/>
            <a:r>
              <a:rPr lang="en-CA" b="0" i="0" u="none" strike="noStrike" kern="100" baseline="0">
                <a:solidFill>
                  <a:srgbClr val="0F4761"/>
                </a:solidFill>
                <a:latin typeface="Times New Roman" panose="02020603050405020304" pitchFamily="18" charset="0"/>
              </a:rPr>
              <a:t>Interactive diagrams</a:t>
            </a:r>
          </a:p>
          <a:p>
            <a:pPr marR="0" lvl="1" rtl="0"/>
            <a:r>
              <a:rPr lang="en-CA" b="0" i="0" u="none" strike="noStrike" kern="100" baseline="0">
                <a:solidFill>
                  <a:srgbClr val="0F4761"/>
                </a:solidFill>
                <a:latin typeface="Times New Roman" panose="02020603050405020304" pitchFamily="18" charset="0"/>
              </a:rPr>
              <a:t>Tables</a:t>
            </a:r>
          </a:p>
          <a:p>
            <a:pPr marR="0" lvl="1" rtl="0"/>
            <a:r>
              <a:rPr lang="en-CA" b="0" i="0" u="none" strike="noStrike" kern="100" baseline="0">
                <a:solidFill>
                  <a:srgbClr val="0F4761"/>
                </a:solidFill>
                <a:latin typeface="Times New Roman" panose="02020603050405020304" pitchFamily="18" charset="0"/>
              </a:rPr>
              <a:t>Reports</a:t>
            </a:r>
          </a:p>
          <a:p>
            <a:pPr marR="0" lvl="1" rtl="0"/>
            <a:r>
              <a:rPr lang="en-CA" b="0" i="0" u="none" strike="noStrike" kern="100" baseline="0">
                <a:solidFill>
                  <a:srgbClr val="0F4761"/>
                </a:solidFill>
                <a:latin typeface="Times New Roman" panose="02020603050405020304" pitchFamily="18" charset="0"/>
              </a:rPr>
              <a:t>PDF export</a:t>
            </a:r>
          </a:p>
        </p:txBody>
      </p:sp>
    </p:spTree>
    <p:extLst>
      <p:ext uri="{BB962C8B-B14F-4D97-AF65-F5344CB8AC3E}">
        <p14:creationId xmlns:p14="http://schemas.microsoft.com/office/powerpoint/2010/main" val="897699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D8AC9-3933-F243-8F2A-B97FE0A8621C}"/>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Roadmap</a:t>
            </a:r>
          </a:p>
        </p:txBody>
      </p:sp>
      <p:sp>
        <p:nvSpPr>
          <p:cNvPr id="3" name="Text Placeholder 2">
            <a:extLst>
              <a:ext uri="{FF2B5EF4-FFF2-40B4-BE49-F238E27FC236}">
                <a16:creationId xmlns:a16="http://schemas.microsoft.com/office/drawing/2014/main" id="{9D7C06D4-95F0-75AF-6324-2D423D69AB52}"/>
              </a:ext>
            </a:extLst>
          </p:cNvPr>
          <p:cNvSpPr>
            <a:spLocks noGrp="1"/>
          </p:cNvSpPr>
          <p:nvPr>
            <p:ph type="body" idx="1"/>
          </p:nvPr>
        </p:nvSpPr>
        <p:spPr/>
        <p:txBody>
          <a:bodyPr>
            <a:normAutofit fontScale="47500" lnSpcReduction="20000"/>
          </a:bodyPr>
          <a:lstStyle/>
          <a:p>
            <a:pPr marR="0" lvl="0" rtl="0"/>
            <a:r>
              <a:rPr lang="en-CA" b="1" i="0" u="none" strike="noStrike" kern="100" baseline="0">
                <a:solidFill>
                  <a:srgbClr val="0F4761"/>
                </a:solidFill>
                <a:latin typeface="Times New Roman" panose="02020603050405020304" pitchFamily="18" charset="0"/>
              </a:rPr>
              <a:t>Planned Enhancements</a:t>
            </a:r>
          </a:p>
          <a:p>
            <a:pPr marR="0" lvl="0" rtl="0"/>
            <a:r>
              <a:rPr lang="en-CA" b="1" i="0" u="none" strike="noStrike" kern="100" baseline="0">
                <a:solidFill>
                  <a:srgbClr val="0F4761"/>
                </a:solidFill>
                <a:latin typeface="Times New Roman" panose="02020603050405020304" pitchFamily="18" charset="0"/>
              </a:rPr>
              <a:t>Visualization</a:t>
            </a:r>
          </a:p>
          <a:p>
            <a:pPr marR="0" lvl="1" rtl="0"/>
            <a:r>
              <a:rPr lang="en-US" b="0" i="0" u="none" strike="noStrike" kern="100" baseline="0">
                <a:solidFill>
                  <a:srgbClr val="0F4761"/>
                </a:solidFill>
                <a:latin typeface="Times New Roman" panose="02020603050405020304" pitchFamily="18" charset="0"/>
              </a:rPr>
              <a:t>Display margins directly on diagrams</a:t>
            </a:r>
          </a:p>
          <a:p>
            <a:pPr marR="0" lvl="1" rtl="0"/>
            <a:r>
              <a:rPr lang="en-US" b="0" i="0" u="none" strike="noStrike" kern="100" baseline="0">
                <a:solidFill>
                  <a:srgbClr val="0F4761"/>
                </a:solidFill>
                <a:latin typeface="Times New Roman" panose="02020603050405020304" pitchFamily="18" charset="0"/>
              </a:rPr>
              <a:t>Display distances directly on diagrams</a:t>
            </a:r>
          </a:p>
          <a:p>
            <a:pPr marR="0" lvl="1" rtl="0"/>
            <a:r>
              <a:rPr lang="en-US" b="0" i="0" u="none" strike="noStrike" kern="100" baseline="0">
                <a:solidFill>
                  <a:srgbClr val="0F4761"/>
                </a:solidFill>
                <a:latin typeface="Times New Roman" panose="02020603050405020304" pitchFamily="18" charset="0"/>
              </a:rPr>
              <a:t>Display overlap percentages directly on diagrams</a:t>
            </a:r>
          </a:p>
          <a:p>
            <a:pPr marR="0" lvl="0" rtl="0"/>
            <a:r>
              <a:rPr lang="en-CA" b="1" i="0" u="none" strike="noStrike" kern="100" baseline="0">
                <a:solidFill>
                  <a:srgbClr val="0F4761"/>
                </a:solidFill>
                <a:latin typeface="Times New Roman" panose="02020603050405020304" pitchFamily="18" charset="0"/>
              </a:rPr>
              <a:t>Interface</a:t>
            </a:r>
          </a:p>
          <a:p>
            <a:pPr marR="0" lvl="1" rtl="0"/>
            <a:r>
              <a:rPr lang="en-CA" b="0" i="0" u="none" strike="noStrike" kern="100" baseline="0">
                <a:solidFill>
                  <a:srgbClr val="0F4761"/>
                </a:solidFill>
                <a:latin typeface="Times New Roman" panose="02020603050405020304" pitchFamily="18" charset="0"/>
              </a:rPr>
              <a:t>Improved automatic layout</a:t>
            </a:r>
          </a:p>
          <a:p>
            <a:pPr marR="0" lvl="1" rtl="0"/>
            <a:r>
              <a:rPr lang="en-US" b="0" i="0" u="none" strike="noStrike" kern="100" baseline="0">
                <a:solidFill>
                  <a:srgbClr val="0F4761"/>
                </a:solidFill>
                <a:latin typeface="Times New Roman" panose="02020603050405020304" pitchFamily="18" charset="0"/>
              </a:rPr>
              <a:t>Better readability of large diagrams</a:t>
            </a:r>
          </a:p>
          <a:p>
            <a:pPr marR="0" lvl="0" rtl="0"/>
            <a:r>
              <a:rPr lang="en-CA" b="1" i="0" u="none" strike="noStrike" kern="100" baseline="0">
                <a:solidFill>
                  <a:srgbClr val="0F4761"/>
                </a:solidFill>
                <a:latin typeface="Times New Roman" panose="02020603050405020304" pitchFamily="18" charset="0"/>
              </a:rPr>
              <a:t>Slice Viewer</a:t>
            </a:r>
          </a:p>
          <a:p>
            <a:pPr marR="0" lvl="1" rtl="0"/>
            <a:r>
              <a:rPr lang="en-CA" b="0" i="0" u="none" strike="noStrike" kern="100" baseline="0">
                <a:solidFill>
                  <a:srgbClr val="0F4761"/>
                </a:solidFill>
                <a:latin typeface="Times New Roman" panose="02020603050405020304" pitchFamily="18" charset="0"/>
              </a:rPr>
              <a:t>Embedded CT images</a:t>
            </a:r>
          </a:p>
          <a:p>
            <a:pPr marR="0" lvl="1" rtl="0"/>
            <a:r>
              <a:rPr lang="en-CA" b="0" i="0" u="none" strike="noStrike" kern="100" baseline="0">
                <a:solidFill>
                  <a:srgbClr val="0F4761"/>
                </a:solidFill>
                <a:latin typeface="Times New Roman" panose="02020603050405020304" pitchFamily="18" charset="0"/>
              </a:rPr>
              <a:t>Annotated contour comparisons</a:t>
            </a:r>
          </a:p>
          <a:p>
            <a:pPr marR="0" lvl="0" rtl="0"/>
            <a:r>
              <a:rPr lang="en-CA" b="1" i="0" u="none" strike="noStrike" kern="100" baseline="0">
                <a:solidFill>
                  <a:srgbClr val="0F4761"/>
                </a:solidFill>
                <a:latin typeface="Times New Roman" panose="02020603050405020304" pitchFamily="18" charset="0"/>
              </a:rPr>
              <a:t>Automated Testing Templates</a:t>
            </a:r>
          </a:p>
          <a:p>
            <a:pPr marR="0" lvl="1" rtl="0"/>
            <a:r>
              <a:rPr lang="en-CA" b="0" i="0" u="none" strike="noStrike" kern="100" baseline="0">
                <a:solidFill>
                  <a:srgbClr val="0F4761"/>
                </a:solidFill>
                <a:latin typeface="Times New Roman" panose="02020603050405020304" pitchFamily="18" charset="0"/>
              </a:rPr>
              <a:t>Site-specific QA checks:</a:t>
            </a:r>
          </a:p>
          <a:p>
            <a:pPr marR="0" lvl="2" rtl="0"/>
            <a:r>
              <a:rPr lang="en-CA" b="0" i="1" u="none" strike="noStrike" kern="100" baseline="0">
                <a:solidFill>
                  <a:srgbClr val="0F4761"/>
                </a:solidFill>
                <a:latin typeface="Times New Roman" panose="02020603050405020304" pitchFamily="18" charset="0"/>
              </a:rPr>
              <a:t>Head and Neck</a:t>
            </a:r>
          </a:p>
          <a:p>
            <a:pPr marR="0" lvl="2" rtl="0"/>
            <a:r>
              <a:rPr lang="en-CA" b="0" i="1" u="none" strike="noStrike" kern="100" baseline="0">
                <a:solidFill>
                  <a:srgbClr val="0F4761"/>
                </a:solidFill>
                <a:latin typeface="Times New Roman" panose="02020603050405020304" pitchFamily="18" charset="0"/>
              </a:rPr>
              <a:t>Lung SBRT</a:t>
            </a:r>
          </a:p>
          <a:p>
            <a:pPr marR="0" lvl="2" rtl="0"/>
            <a:r>
              <a:rPr lang="en-CA" b="0" i="1" u="none" strike="noStrike" kern="100" baseline="0">
                <a:solidFill>
                  <a:srgbClr val="0F4761"/>
                </a:solidFill>
                <a:latin typeface="Times New Roman" panose="02020603050405020304" pitchFamily="18" charset="0"/>
              </a:rPr>
              <a:t>Breast</a:t>
            </a:r>
          </a:p>
          <a:p>
            <a:pPr marR="0" lvl="2" rtl="0"/>
            <a:r>
              <a:rPr lang="en-CA" b="0" i="1" u="none" strike="noStrike" kern="100" baseline="0">
                <a:solidFill>
                  <a:srgbClr val="0F4761"/>
                </a:solidFill>
                <a:latin typeface="Times New Roman" panose="02020603050405020304" pitchFamily="18" charset="0"/>
              </a:rPr>
              <a:t>Pelvis</a:t>
            </a:r>
          </a:p>
          <a:p>
            <a:pPr marR="0" lvl="1" rtl="0"/>
            <a:r>
              <a:rPr lang="en-CA" b="0" i="0" u="none" strike="noStrike" kern="100" baseline="0">
                <a:solidFill>
                  <a:srgbClr val="0F4761"/>
                </a:solidFill>
                <a:latin typeface="Times New Roman" panose="02020603050405020304" pitchFamily="18" charset="0"/>
              </a:rPr>
              <a:t>Automatically verify:</a:t>
            </a:r>
          </a:p>
          <a:p>
            <a:pPr marR="0" lvl="2" rtl="0"/>
            <a:r>
              <a:rPr lang="en-CA" b="0" i="1" u="none" strike="noStrike" kern="100" baseline="0">
                <a:solidFill>
                  <a:srgbClr val="0F4761"/>
                </a:solidFill>
                <a:latin typeface="Times New Roman" panose="02020603050405020304" pitchFamily="18" charset="0"/>
              </a:rPr>
              <a:t>Naming conventions</a:t>
            </a:r>
          </a:p>
          <a:p>
            <a:pPr marR="0" lvl="2" rtl="0"/>
            <a:r>
              <a:rPr lang="en-CA" b="0" i="1" u="none" strike="noStrike" kern="100" baseline="0">
                <a:solidFill>
                  <a:srgbClr val="0F4761"/>
                </a:solidFill>
                <a:latin typeface="Times New Roman" panose="02020603050405020304" pitchFamily="18" charset="0"/>
              </a:rPr>
              <a:t>Expected relationships</a:t>
            </a:r>
          </a:p>
          <a:p>
            <a:pPr marR="0" lvl="2" rtl="0"/>
            <a:r>
              <a:rPr lang="en-CA" b="0" i="1" u="none" strike="noStrike" kern="100" baseline="0">
                <a:solidFill>
                  <a:srgbClr val="0F4761"/>
                </a:solidFill>
                <a:latin typeface="Times New Roman" panose="02020603050405020304" pitchFamily="18" charset="0"/>
              </a:rPr>
              <a:t>Margin requirements</a:t>
            </a:r>
          </a:p>
          <a:p>
            <a:pPr marR="0" lvl="1" rtl="0"/>
            <a:r>
              <a:rPr lang="en-US" b="0" i="0" u="none" strike="noStrike" kern="100" baseline="0">
                <a:solidFill>
                  <a:srgbClr val="0F4761"/>
                </a:solidFill>
                <a:latin typeface="Times New Roman" panose="02020603050405020304" pitchFamily="18" charset="0"/>
              </a:rPr>
              <a:t>Generate exception reports for failed tests.</a:t>
            </a:r>
          </a:p>
        </p:txBody>
      </p:sp>
    </p:spTree>
    <p:extLst>
      <p:ext uri="{BB962C8B-B14F-4D97-AF65-F5344CB8AC3E}">
        <p14:creationId xmlns:p14="http://schemas.microsoft.com/office/powerpoint/2010/main" val="3850503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8446A-A5C0-E018-3FA1-3A6086576326}"/>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Long-Term Vision</a:t>
            </a:r>
          </a:p>
        </p:txBody>
      </p:sp>
      <p:sp>
        <p:nvSpPr>
          <p:cNvPr id="3" name="Text Placeholder 2">
            <a:extLst>
              <a:ext uri="{FF2B5EF4-FFF2-40B4-BE49-F238E27FC236}">
                <a16:creationId xmlns:a16="http://schemas.microsoft.com/office/drawing/2014/main" id="{472CFE30-27AA-F4CA-0594-BF325B8AD43B}"/>
              </a:ext>
            </a:extLst>
          </p:cNvPr>
          <p:cNvSpPr>
            <a:spLocks noGrp="1"/>
          </p:cNvSpPr>
          <p:nvPr>
            <p:ph type="body" idx="1"/>
          </p:nvPr>
        </p:nvSpPr>
        <p:spPr/>
        <p:txBody>
          <a:bodyPr/>
          <a:lstStyle/>
          <a:p>
            <a:pPr marR="0" lvl="0" rtl="0"/>
            <a:r>
              <a:rPr lang="en-US" b="1" i="0" u="none" strike="noStrike" kern="100" baseline="0">
                <a:solidFill>
                  <a:srgbClr val="0F4761"/>
                </a:solidFill>
                <a:latin typeface="Times New Roman" panose="02020603050405020304" pitchFamily="18" charset="0"/>
              </a:rPr>
              <a:t>From Visualization to Automated Structure QA</a:t>
            </a:r>
          </a:p>
          <a:p>
            <a:pPr marR="0" lvl="1" rtl="0"/>
            <a:r>
              <a:rPr lang="en-CA" b="0" i="0" u="none" strike="noStrike" kern="100" baseline="0">
                <a:solidFill>
                  <a:srgbClr val="0F4761"/>
                </a:solidFill>
                <a:latin typeface="Times New Roman" panose="02020603050405020304" pitchFamily="18" charset="0"/>
              </a:rPr>
              <a:t>Future releases could:</a:t>
            </a:r>
          </a:p>
          <a:p>
            <a:pPr marR="0" lvl="2" rtl="0"/>
            <a:r>
              <a:rPr lang="en-CA" b="0" i="1" u="none" strike="noStrike" kern="100" baseline="0">
                <a:solidFill>
                  <a:srgbClr val="0F4761"/>
                </a:solidFill>
                <a:latin typeface="Times New Roman" panose="02020603050405020304" pitchFamily="18" charset="0"/>
              </a:rPr>
              <a:t>Validate expected contour hierarchies</a:t>
            </a:r>
          </a:p>
          <a:p>
            <a:pPr marR="0" lvl="2" rtl="0"/>
            <a:r>
              <a:rPr lang="en-CA" b="0" i="1" u="none" strike="noStrike" kern="100" baseline="0">
                <a:solidFill>
                  <a:srgbClr val="0F4761"/>
                </a:solidFill>
                <a:latin typeface="Times New Roman" panose="02020603050405020304" pitchFamily="18" charset="0"/>
              </a:rPr>
              <a:t>Detect missing structures</a:t>
            </a:r>
          </a:p>
          <a:p>
            <a:pPr marR="0" lvl="2" rtl="0"/>
            <a:r>
              <a:rPr lang="en-CA" b="0" i="1" u="none" strike="noStrike" kern="100" baseline="0">
                <a:solidFill>
                  <a:srgbClr val="0F4761"/>
                </a:solidFill>
                <a:latin typeface="Times New Roman" panose="02020603050405020304" pitchFamily="18" charset="0"/>
              </a:rPr>
              <a:t>Verify standard margins</a:t>
            </a:r>
          </a:p>
          <a:p>
            <a:pPr marR="0" lvl="2" rtl="0"/>
            <a:r>
              <a:rPr lang="en-CA" b="0" i="1" u="none" strike="noStrike" kern="100" baseline="0">
                <a:solidFill>
                  <a:srgbClr val="0F4761"/>
                </a:solidFill>
                <a:latin typeface="Times New Roman" panose="02020603050405020304" pitchFamily="18" charset="0"/>
              </a:rPr>
              <a:t>Annotate failures</a:t>
            </a:r>
          </a:p>
          <a:p>
            <a:pPr marR="0" lvl="2" rtl="0"/>
            <a:r>
              <a:rPr lang="en-CA" b="0" i="1" u="none" strike="noStrike" kern="100" baseline="0">
                <a:solidFill>
                  <a:srgbClr val="0F4761"/>
                </a:solidFill>
                <a:latin typeface="Times New Roman" panose="02020603050405020304" pitchFamily="18" charset="0"/>
              </a:rPr>
              <a:t>Generate automated QA reports</a:t>
            </a:r>
          </a:p>
          <a:p>
            <a:pPr marR="0" lvl="1" rtl="0"/>
            <a:r>
              <a:rPr lang="en-CA" b="0" i="0" u="none" strike="noStrike" kern="100" baseline="0">
                <a:solidFill>
                  <a:srgbClr val="0F4761"/>
                </a:solidFill>
                <a:latin typeface="Times New Roman" panose="02020603050405020304" pitchFamily="18" charset="0"/>
              </a:rPr>
              <a:t>Goal:</a:t>
            </a:r>
          </a:p>
          <a:p>
            <a:pPr marR="0" lvl="2" rtl="0"/>
            <a:r>
              <a:rPr lang="en-US" b="1" i="1" u="none" strike="noStrike" kern="100" baseline="0">
                <a:solidFill>
                  <a:srgbClr val="0F4761"/>
                </a:solidFill>
                <a:latin typeface="Times New Roman" panose="02020603050405020304" pitchFamily="18" charset="0"/>
              </a:rPr>
              <a:t>Transform contour relationship review from a manual visual task into an efficient, standardized, and largely automated QA process.</a:t>
            </a:r>
            <a:endParaRPr lang="en-US" b="0" i="1" u="none" strike="noStrike" kern="100" baseline="0">
              <a:solidFill>
                <a:srgbClr val="0F4761"/>
              </a:solidFill>
              <a:latin typeface="Times New Roman" panose="02020603050405020304" pitchFamily="18" charset="0"/>
            </a:endParaRPr>
          </a:p>
        </p:txBody>
      </p:sp>
    </p:spTree>
    <p:extLst>
      <p:ext uri="{BB962C8B-B14F-4D97-AF65-F5344CB8AC3E}">
        <p14:creationId xmlns:p14="http://schemas.microsoft.com/office/powerpoint/2010/main" val="3246471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CBF9-7CB6-B433-68A6-B0034ACF87C3}"/>
              </a:ext>
            </a:extLst>
          </p:cNvPr>
          <p:cNvSpPr>
            <a:spLocks noGrp="1"/>
          </p:cNvSpPr>
          <p:nvPr>
            <p:ph type="title"/>
          </p:nvPr>
        </p:nvSpPr>
        <p:spPr/>
        <p:txBody>
          <a:bodyPr/>
          <a:lstStyle/>
          <a:p>
            <a:pPr marR="0" rtl="0"/>
            <a:r>
              <a:rPr lang="en-CA" b="1" i="0" u="none" strike="noStrike" kern="100" baseline="0" dirty="0">
                <a:solidFill>
                  <a:srgbClr val="0F4761"/>
                </a:solidFill>
                <a:latin typeface="Times New Roman" panose="02020603050405020304" pitchFamily="18" charset="0"/>
              </a:rPr>
              <a:t>Summary</a:t>
            </a:r>
          </a:p>
        </p:txBody>
      </p:sp>
      <p:sp>
        <p:nvSpPr>
          <p:cNvPr id="3" name="Text Placeholder 2">
            <a:extLst>
              <a:ext uri="{FF2B5EF4-FFF2-40B4-BE49-F238E27FC236}">
                <a16:creationId xmlns:a16="http://schemas.microsoft.com/office/drawing/2014/main" id="{0C280639-111C-6ECD-0268-2E86C430C508}"/>
              </a:ext>
            </a:extLst>
          </p:cNvPr>
          <p:cNvSpPr>
            <a:spLocks noGrp="1"/>
          </p:cNvSpPr>
          <p:nvPr>
            <p:ph type="body" idx="1"/>
          </p:nvPr>
        </p:nvSpPr>
        <p:spPr/>
        <p:txBody>
          <a:bodyPr>
            <a:normAutofit fontScale="85000" lnSpcReduction="10000"/>
          </a:bodyPr>
          <a:lstStyle/>
          <a:p>
            <a:pPr marR="0" lvl="0" rtl="0"/>
            <a:r>
              <a:rPr lang="en-CA" b="1" i="0" u="none" strike="noStrike" kern="100" baseline="0">
                <a:solidFill>
                  <a:srgbClr val="0F4761"/>
                </a:solidFill>
                <a:latin typeface="Times New Roman" panose="02020603050405020304" pitchFamily="18" charset="0"/>
              </a:rPr>
              <a:t>Structure Relations</a:t>
            </a:r>
          </a:p>
          <a:p>
            <a:pPr marR="0" lvl="1" rtl="0"/>
            <a:r>
              <a:rPr lang="en-CA" b="1" i="0" u="none" strike="noStrike" kern="100" baseline="0">
                <a:solidFill>
                  <a:srgbClr val="0F4761"/>
                </a:solidFill>
                <a:latin typeface="Times New Roman" panose="02020603050405020304" pitchFamily="18" charset="0"/>
              </a:rPr>
              <a:t>Provides</a:t>
            </a:r>
          </a:p>
          <a:p>
            <a:pPr marR="0" lvl="2" rtl="0"/>
            <a:r>
              <a:rPr lang="en-US" b="0" i="1" u="none" strike="noStrike" kern="100" baseline="0">
                <a:solidFill>
                  <a:srgbClr val="0F4761"/>
                </a:solidFill>
                <a:latin typeface="Times New Roman" panose="02020603050405020304" pitchFamily="18" charset="0"/>
              </a:rPr>
              <a:t>✓ Rapid visualization of structure relationships</a:t>
            </a:r>
          </a:p>
          <a:p>
            <a:pPr marR="0" lvl="2" rtl="0"/>
            <a:r>
              <a:rPr lang="en-CA" b="0" i="1" u="none" strike="noStrike" kern="100" baseline="0">
                <a:solidFill>
                  <a:srgbClr val="0F4761"/>
                </a:solidFill>
                <a:latin typeface="Times New Roman" panose="02020603050405020304" pitchFamily="18" charset="0"/>
              </a:rPr>
              <a:t>✓ Quantitative overlap, margin, and distance metrics</a:t>
            </a:r>
          </a:p>
          <a:p>
            <a:pPr marR="0" lvl="2" rtl="0"/>
            <a:r>
              <a:rPr lang="en-CA" b="0" i="1" u="none" strike="noStrike" kern="100" baseline="0">
                <a:solidFill>
                  <a:srgbClr val="0F4761"/>
                </a:solidFill>
                <a:latin typeface="Times New Roman" panose="02020603050405020304" pitchFamily="18" charset="0"/>
              </a:rPr>
              <a:t>✓ Planning preparation support</a:t>
            </a:r>
          </a:p>
          <a:p>
            <a:pPr marR="0" lvl="2" rtl="0"/>
            <a:r>
              <a:rPr lang="en-CA" b="0" i="1" u="none" strike="noStrike" kern="100" baseline="0">
                <a:solidFill>
                  <a:srgbClr val="0F4761"/>
                </a:solidFill>
                <a:latin typeface="Times New Roman" panose="02020603050405020304" pitchFamily="18" charset="0"/>
              </a:rPr>
              <a:t>✓ Plan checking support</a:t>
            </a:r>
          </a:p>
          <a:p>
            <a:pPr marR="0" lvl="2" rtl="0"/>
            <a:r>
              <a:rPr lang="en-CA" b="0" i="1" u="none" strike="noStrike" kern="100" baseline="0">
                <a:solidFill>
                  <a:srgbClr val="0F4761"/>
                </a:solidFill>
                <a:latin typeface="Times New Roman" panose="02020603050405020304" pitchFamily="18" charset="0"/>
              </a:rPr>
              <a:t>✓ Contour QA support</a:t>
            </a:r>
          </a:p>
          <a:p>
            <a:pPr marR="0" lvl="2" rtl="0"/>
            <a:r>
              <a:rPr lang="en-CA" b="0" i="1" u="none" strike="noStrike" kern="100" baseline="0">
                <a:solidFill>
                  <a:srgbClr val="0F4761"/>
                </a:solidFill>
                <a:latin typeface="Times New Roman" panose="02020603050405020304" pitchFamily="18" charset="0"/>
              </a:rPr>
              <a:t>✓ Interactive diagrams and reports</a:t>
            </a:r>
          </a:p>
          <a:p>
            <a:pPr marR="0" lvl="0" rtl="0"/>
            <a:r>
              <a:rPr lang="en-CA" b="1" i="0" u="none" strike="noStrike" kern="100" baseline="0">
                <a:solidFill>
                  <a:srgbClr val="0F4761"/>
                </a:solidFill>
                <a:latin typeface="Times New Roman" panose="02020603050405020304" pitchFamily="18" charset="0"/>
              </a:rPr>
              <a:t>Key Takeaway</a:t>
            </a:r>
          </a:p>
          <a:p>
            <a:pPr marR="0" lvl="1" rtl="0"/>
            <a:r>
              <a:rPr lang="en-US" b="1" i="0" u="none" strike="noStrike" kern="100" baseline="0">
                <a:solidFill>
                  <a:srgbClr val="0F4761"/>
                </a:solidFill>
                <a:latin typeface="Times New Roman" panose="02020603050405020304" pitchFamily="18" charset="0"/>
              </a:rPr>
              <a:t>Structure Relations makes contour relationships visible, measurable, and actionable, enabling faster planning decisions and more effective plan QA.</a:t>
            </a:r>
            <a:r>
              <a:rPr lang="en-US" b="0" i="0" u="none" strike="noStrike" kern="100" baseline="0">
                <a:solidFill>
                  <a:srgbClr val="0F4761"/>
                </a:solidFill>
                <a:latin typeface="Times New Roman" panose="02020603050405020304" pitchFamily="18" charset="0"/>
              </a:rPr>
              <a:t> </a:t>
            </a:r>
            <a:r>
              <a:rPr lang="en-US" b="0" i="0" u="sng" strike="noStrike" kern="100" baseline="0">
                <a:solidFill>
                  <a:srgbClr val="467886"/>
                </a:solidFill>
                <a:latin typeface="Times New Roman" panose="02020603050405020304" pitchFamily="18" charset="0"/>
                <a:hlinkClick r:id="rId2"/>
              </a:rPr>
              <a:t>[Relations | Word]</a:t>
            </a:r>
          </a:p>
          <a:p>
            <a:pPr marR="0" lvl="1" rtl="0"/>
            <a:r>
              <a:rPr lang="en-US" b="0" i="0" u="none" strike="noStrike" kern="100" baseline="0">
                <a:solidFill>
                  <a:srgbClr val="0F4761"/>
                </a:solidFill>
                <a:latin typeface="Times New Roman" panose="02020603050405020304" pitchFamily="18" charset="0"/>
              </a:rPr>
              <a:t>This outline is already at the level where it could be directly converted into a 15–20 minute conference-style PowerPoint. I would recommend adding 4–6 screenshots from the current application (relationship diagrams, matrix view, and slice comparison view) after Slides 7, 8, 12, and 14 to make the presentation much more compelling.</a:t>
            </a:r>
          </a:p>
          <a:p>
            <a:pPr marR="0" lvl="1" rtl="0"/>
            <a:endParaRPr lang="en-CA" b="0" i="0" u="none" strike="noStrike" kern="100" baseline="0">
              <a:solidFill>
                <a:srgbClr val="0F4761"/>
              </a:solidFill>
              <a:latin typeface="Times New Roman" panose="02020603050405020304" pitchFamily="18" charset="0"/>
            </a:endParaRPr>
          </a:p>
        </p:txBody>
      </p:sp>
    </p:spTree>
    <p:extLst>
      <p:ext uri="{BB962C8B-B14F-4D97-AF65-F5344CB8AC3E}">
        <p14:creationId xmlns:p14="http://schemas.microsoft.com/office/powerpoint/2010/main" val="3852987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1145</Words>
  <Application>Microsoft Office PowerPoint</Application>
  <PresentationFormat>Widescreen</PresentationFormat>
  <Paragraphs>287</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Times New Roman</vt:lpstr>
      <vt:lpstr>Office Theme</vt:lpstr>
      <vt:lpstr>Structure Relations</vt:lpstr>
      <vt:lpstr>The Problem</vt:lpstr>
      <vt:lpstr>Introducing Structure Relations</vt:lpstr>
      <vt:lpstr>What Structure Relations Does</vt:lpstr>
      <vt:lpstr>What Structure Relations Does NOT Do</vt:lpstr>
      <vt:lpstr>Typical Workflow</vt:lpstr>
      <vt:lpstr>Interactive User Interface</vt:lpstr>
      <vt:lpstr>Planning Preparation Example</vt:lpstr>
      <vt:lpstr>Plan QA Example</vt:lpstr>
      <vt:lpstr>Failure Investigation</vt:lpstr>
      <vt:lpstr>Relationship Model</vt:lpstr>
      <vt:lpstr>Beyond DE-9IM</vt:lpstr>
      <vt:lpstr>Logical Relationships</vt:lpstr>
      <vt:lpstr>Relationship Logic Engine</vt:lpstr>
      <vt:lpstr>Current Outputs</vt:lpstr>
      <vt:lpstr>Architecture Overview</vt:lpstr>
      <vt:lpstr>Roadmap</vt:lpstr>
      <vt:lpstr>Long-Term Vision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Greg Salomons</dc:creator>
  <cp:lastModifiedBy>Greg Salomons</cp:lastModifiedBy>
  <cp:revision>1</cp:revision>
  <dcterms:created xsi:type="dcterms:W3CDTF">2026-07-29T20:31:25Z</dcterms:created>
  <dcterms:modified xsi:type="dcterms:W3CDTF">2026-07-29T20:35:13Z</dcterms:modified>
</cp:coreProperties>
</file>